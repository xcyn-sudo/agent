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  <Relationship Id="rId2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各位领导、各位来宾，大家好。今天我要向大家汇报的是——企业知识中枢，一个基于AI Agent的智能知识管理平台。它的核心承诺很简单：让每个员工像问资深同事一样，秒级获取企业知识。接下来20分钟，我将带大家走过一个完整的故事——从政策东风到企业痛点，从解决方案到技术实力，最终看到落地效果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们先从大背景讲起。过去十年，中国在AI政策上走了一条举世瞩目的路。2017年，《新一代人工智能发展规划》把AI上升为国家战略。到2023年，"人工智能+"首次写进政府工作报告。真正的转折在2025年——国发11号文明确提出了2027年智能体普及率超过70%的目标。而今年2026年，智能体已经写进了政府工作报告，三部门联合出台了19大应用场景的实施意见。从发展规划到智能体立法，中国用十年构建了全球最系统的AI治理与产业促进体系。这不是风口，这是已经到来的时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对企业来说，这意味着什么？三个层面同时发力：战略层面有国发11号文的顶层设计，产业层面有"模数共振"行动和智能体工厂，治理层面已经建立了分类分级和备案制度。企业构建AI Agent知识平台，不是要不要的问题，而是顺应国策的必然选择——同时也是解决真实痛点的迫切需求。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到痛点，我们来看看企业知识管理的现实。这五个数字非常扎心：找一份制度文件平均要23分钟，一个200人的公司每年因此损失56,000个工时；查一个信息要切4个系统；核心员工离职，知识就归零了——原本30分钟能处理的故障，变成4个小时；薪资文件谁都能搜到，没有细粒度权限；最典型的是HR总监第47次回答"年假怎么算"——70%的问题都是重复的。这就是我们每天在浪费的成本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所以，我们的核心命题是：如何让企业知识，从"人脑记忆加散落文件"，变成"一个框、10秒钟、精准答案"？这就是企业知识中枢要解决的问题。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产品定位非常清晰——让每个员工都能像问资深同事一样，秒级获取企业知识。来看这组改善数据：单次查找从23分钟降到10秒，降低了99.3%；跨部门信息获取从4小时降到30秒，降低了99.8%；重复问题人工回答从100%降到20%；新人上手周期从2天降到半天。这不仅仅是效率提升，这是工作方式的根本改变。核心金句——不是替代人，是让每个人不再把时间浪费在"找东西"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做了一笔细账。传统模式下，员工问一个问题，60%的情况是自己翻文件，每次成本30.7元；30%是钉钉问人，每次成本50.8元；还有10%找不到只能开会，一次会议成本300元。加权平均下来，一次问答的综合成本是63.6元。而使用AI知识中枢呢？每次问答成本只有0.27元，10秒出答案，还附带来源引用。成本降低了99.6%。算一笔年化账——一个200人的企业，每年可以节省49万元。这就是可量化的降本增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投资回报。分三个阶段：第一阶段MVP，前三个月投入33.5万，年化收益27.2万；第二阶段增强，追加13万投入，年化收益跳到60.5万；第三阶段全面铺开，再投15万，年化收益达到115万以上。重要的是——累计投入56万，第10个月就能回本。三年ROI是221%，五年ROI是733%。这不是烧钱的概念，这是一个高回报的投资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下面进入技术篇。我们的技术架构分为五层。最上面是前端展示层，Vue3加TypeScript加Pinia，Vite构建，支持SSE流式接收。第二层是API网关层，基于Spring Boot 3，统一鉴权和流量管控。第三层是业务服务层，八大核心模块全部采用事件驱动加CQRS架构。第四层是AI引擎层，这是整个系统的智能核心——LangChain框架，本地Ollama跑qwen3模型，DeepSeek做熔断降级，加上混合检索和Rerank精排。最底层是数据存储，MySQL管元数据，ChromaDB做向量检索，Lucene做BM25关键词索引。五层全栈，每一层都有明确的架构理由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为什么选这些技术？前端Vue3生态成熟，SSE支持好，团队也熟悉。后端Spring Boot 3企业级生态完善。LLM选Ollama本地推理，数据不出企业，DeepSeek做备用。向量库ChromaDB轻量部署，适合企业内网。检索采用语义加BM25混合，两者互补。权限是ABAC五维度——角色、部门、密级、职级、时间——满足等保2.0。这里有四个关键设计决策：第一，数据不出企业，全链路内网部署；第二，Provider可切换，策略模式抽象，不绑定单一厂商；第三，全链路异步，事件驱动不阻塞用户；第四，断点续传，DLQ死信队列加三次退避重试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大核心亮点，一页看完。混合检索——语义加关键词双路召回，RRF融合加Rerank重排；ABAC权限——五维度细粒度，属性级访问控制，等保2.0合规；全链路溯源——每个答案都能追溯到原文，审计日志完整；多源接入——JDBC、REST、S3统一接入网关，ETL标准化；数据安全——全链路内网，LLM本地推理，可以完全离线；事件驱动——异步处理管道，DLQ断点续传，质量实时监控。这六项构成了我们的技术护城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让我深挖一下混合检索这条链路。用户提一个问题，先经过意图解析和域路由，判断这个问题应该去哪个知识域查找。然后双路并行——语义通道走ChromaDB向量检索召回Top-20，关键词通道走Lucene BM25精确匹配也召回Top-20。两路结果通过RRF加权融合去重，从40条收束到10条。再经过Rerank交叉精排，从10条精选到5条。最后交给LLM生成流式答案。为什么要双路？因为单一语义检索容易遗漏精确条件——比如"薪资大于1万"这种结构化查询——混合检索加结构化过滤正好补齐这个短板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再看数据入库。数据从哪来？ERP、CRM、OA、文件服务器、手动上传——五种来源。经过八步标准化管道：接入网关用Connector策略统一接入，支持全量和增量CDC；质量检查关，合格率超过50%放行，低于50%自动阻断并告警；ETL标准化——字符集统一到UTF-8，字典翻译把编码变成可读文本，结构化数据转自然语言；知识目录索引，建立域到数据源到实体的体系；最后切片加向量化，每块500字，32条一批并发做Embedding。最终存入三个存储——MySQL管元数据、ChromaDB管向量检索、Lucene管BM25全文检索。三个关键设计：增量同步用时间戳和CDC，不对源系统做全表扫描；质量兜底不合格自动阻断；异步解耦上传即返回不阻塞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我们的八大功能模块全景。中心是企业知识中枢——一个框、10秒、精准答案。围绕它的是八个功能模块：智能问答支持自然语言提问和流式输出，答案可以追溯到原文；知识管理覆盖文档全生命周期；多源接入统一JDBC、REST、S3连接器；权限管控基于ABAC五维度；统计仪表展示问答趋势和满意度；知识目录提供树形浏览和精准检索；质量管控多维校验异常阻断；反馈闭环通过点赞点踩持续优化。八个模块协同工作，缺一不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些朋友可能会问，这不就是企业搜索吗？完全不是。传统关键词搜索你输入"绩效考核制度2024"，返回128个文件列表。企业知识中枢你直接问"研发部2024年绩效考核周期是多久"，返回一个精准答案加引用来源。传统搜索是字面匹配，我们把薪酬、工资、薪水、报酬全部语义等价。传统搜索要自己点开文件找，我们直接标注文档名和章节。学习成本更是天壤之别——传统搜索你得知道正确的"关键词"，我们日常语言就行。而且我们支持四种问答类型：语义问答、结构化查询、日期范围、枚举匹配。来一个真实例子——员工问"出差报销需要什么材料"，系统秒回"根据财务报销制度，需要出差申请单加发票原件加行程单，3个工作日内提交"，附带来源标注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知识管理覆盖完整生命周期——从上传、解析、切片、向量化、入库到可检索，再到更新和删除。每个步骤都有状态追踪，失败自动重试，DLQ死信队列加三次退避。归档采用软删除，即刻不可检索。数据接入方面，我们支持四种方式：关系型数据库走JDBC连接器，REST API走HTTP连接器，文件系统走S3或NFS连接器，以及Web界面手动上传。全量同步初始化加增量CDC持续更新，延迟不超过30分钟。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权限是企业的生命线。来看一个实际决策——张三，HR专员，密级2，想查看《2024年薪资方案》，这个文件在HR域、密级3。系统判断密级不足，拒绝访问，同时记录审计日志。换成李四，HR总监，密级3，同样的请求——密级满足、域匹配，允许访问。这就是ABAC的精髓——不是简单的角色判断，而是多维度的属性级决策。我们的五维度包括：角色、部门、密级、职级和时间。密级从公开到绝密四级递进。演进路径分三步走，从基础的RBAC到加入部门和密级，最终实现全维度ABAC，满足等保2.0和GDPR要求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来看三个典型场景。新员工小王入职研发部，输入"新人开发环境搭建的完整步骤"，30分钟搞定环境，上手时间从2天降到半天。张经理想了解销售部的最新流程，30秒拿到答案，不需要跨部门打电话打扰同事。CFO李总做合规审计，秒级定位到签发的政策文件，审计有据可查。这个系统覆盖四类角色——一线员工、中层管理、高层管理、IT管理员——每个角色都有自己专属的知识获取方式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地我们分三步走。第一阶段MVP，前三个月，2到3人团队，覆盖两个域、30到50人日活，交付核心问答、基础RBAC、文档管理、Dashboard和用户管理。第二阶段增强，再加两个月，追加两人，扩大到四个域、100到200人日活，增加多源接入、混合检索加Rerank、部门和密级权限、SSE流式输出、反馈闭环和ETL标准化。第三阶段全面铺开，再加三个月，全业务域覆盖，全员200人以上，实现ABAC全维度、知识目录全公司、模型微调和SLA监控告警。关键节点：第1月末内部Demo、第3月末P1上线、第5月末P2上线、第8月末全员覆盖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汇总了我们PPT的十种动效设计——从封面粒子背景到时间轴点亮，从数字翻滚计数器到分层构建动画，从数据流粒子到卡片3D翻转，从打字机效果到状态脉冲，再到进度条填充和勾选动画。整体使用Morph平滑过渡，关键数据页深色背景，文字页浅色面板。动效总时长控制在每页2到4秒，保持专业感的同时给观众视觉惊喜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最后，让我们回到这个故事的核心。乘政策东风，以AI Agent之力，让企业知识，触手可及。三个数字请大家记住——10秒，从提问到答案；99.6%，单次信息获取成本降低；221%，三年投资回报率。感谢各位的聆听。如果您有任何问题，我非常乐意深入交流。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9972a8b3923bd01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0642d0f520f32e1.jp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901545ea06b3fb87.jp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85" t="0" r="8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>
              <a:alpha val="3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12000"/>
                </a:srgbClr>
              </a:gs>
              <a:gs pos="60000">
                <a:srgbClr val="1A73E8">
                  <a:alpha val="3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762000"/>
            <a:ext cx="1905000" cy="4476750"/>
            <a:chOff x="0" y="762000"/>
            <a:chExt cx="1905000" cy="4476750"/>
          </a:xfrm>
        </p:grpSpPr>
        <p:sp>
          <p:nvSpPr>
            <p:cNvPr id="6" name="Freeform 6"/>
            <p:cNvSpPr/>
            <p:nvPr/>
          </p:nvSpPr>
          <p:spPr>
            <a:xfrm>
              <a:off x="0" y="762000"/>
              <a:ext cx="1524000" cy="1143000"/>
            </a:xfrm>
            <a:custGeom>
              <a:avLst/>
              <a:gdLst/>
              <a:ahLst/>
              <a:cxnLst/>
              <a:rect l="l" t="t" r="r" b="b"/>
              <a:pathLst>
                <a:path w="1524000" h="1143000">
                  <a:moveTo>
                    <a:pt x="0" y="1143000"/>
                  </a:moveTo>
                  <a:lnTo>
                    <a:pt x="1143000" y="1143000"/>
                  </a:lnTo>
                  <a:lnTo>
                    <a:pt x="1524000" y="762000"/>
                  </a:lnTo>
                  <a:lnTo>
                    <a:pt x="1524000" y="0"/>
                  </a:lnTo>
                </a:path>
              </a:pathLst>
            </a:custGeom>
            <a:noFill/>
            <a:ln w="11430">
              <a:solidFill>
                <a:srgbClr val="1A73E8">
                  <a:alpha val="4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0" y="2667000"/>
              <a:ext cx="1905000" cy="1143000"/>
            </a:xfrm>
            <a:custGeom>
              <a:avLst/>
              <a:gdLst/>
              <a:ahLst/>
              <a:cxnLst/>
              <a:rect l="l" t="t" r="r" b="b"/>
              <a:pathLst>
                <a:path w="1905000" h="1143000">
                  <a:moveTo>
                    <a:pt x="0" y="1143000"/>
                  </a:moveTo>
                  <a:lnTo>
                    <a:pt x="762000" y="1143000"/>
                  </a:lnTo>
                  <a:lnTo>
                    <a:pt x="1143000" y="762000"/>
                  </a:lnTo>
                  <a:lnTo>
                    <a:pt x="1143000" y="0"/>
                  </a:lnTo>
                  <a:lnTo>
                    <a:pt x="1905000" y="0"/>
                  </a:lnTo>
                </a:path>
              </a:pathLst>
            </a:custGeom>
            <a:noFill/>
            <a:ln w="11430">
              <a:solidFill>
                <a:srgbClr val="1A73E8">
                  <a:alpha val="4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4000500"/>
              <a:ext cx="1428750" cy="1238250"/>
            </a:xfrm>
            <a:custGeom>
              <a:avLst/>
              <a:gdLst/>
              <a:ahLst/>
              <a:cxnLst/>
              <a:rect l="l" t="t" r="r" b="b"/>
              <a:pathLst>
                <a:path w="1428750" h="1238250">
                  <a:moveTo>
                    <a:pt x="0" y="1238250"/>
                  </a:moveTo>
                  <a:lnTo>
                    <a:pt x="952500" y="1238250"/>
                  </a:lnTo>
                  <a:lnTo>
                    <a:pt x="1428750" y="762000"/>
                  </a:lnTo>
                  <a:lnTo>
                    <a:pt x="1428750" y="0"/>
                  </a:lnTo>
                </a:path>
              </a:pathLst>
            </a:custGeom>
            <a:noFill/>
            <a:ln w="11430">
              <a:solidFill>
                <a:srgbClr val="1A73E8">
                  <a:alpha val="40000"/>
                </a:srgbClr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0287000" y="1714500"/>
            <a:ext cx="1905000" cy="4762500"/>
            <a:chOff x="10287000" y="1714500"/>
            <a:chExt cx="1905000" cy="4762500"/>
          </a:xfrm>
        </p:grpSpPr>
        <p:sp>
          <p:nvSpPr>
            <p:cNvPr id="10" name="Freeform 10"/>
            <p:cNvSpPr/>
            <p:nvPr/>
          </p:nvSpPr>
          <p:spPr>
            <a:xfrm>
              <a:off x="10287000" y="1714500"/>
              <a:ext cx="1905000" cy="1619250"/>
            </a:xfrm>
            <a:custGeom>
              <a:avLst/>
              <a:gdLst/>
              <a:ahLst/>
              <a:cxnLst/>
              <a:rect l="l" t="t" r="r" b="b"/>
              <a:pathLst>
                <a:path w="1905000" h="1619250">
                  <a:moveTo>
                    <a:pt x="1905000" y="0"/>
                  </a:moveTo>
                  <a:lnTo>
                    <a:pt x="381000" y="0"/>
                  </a:lnTo>
                  <a:lnTo>
                    <a:pt x="0" y="381000"/>
                  </a:lnTo>
                  <a:lnTo>
                    <a:pt x="0" y="1619250"/>
                  </a:lnTo>
                </a:path>
              </a:pathLst>
            </a:custGeom>
            <a:noFill/>
            <a:ln w="11430">
              <a:solidFill>
                <a:srgbClr val="7C4DFF">
                  <a:alpha val="35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477500" y="4000500"/>
              <a:ext cx="1714500" cy="1714500"/>
            </a:xfrm>
            <a:custGeom>
              <a:avLst/>
              <a:gdLst/>
              <a:ahLst/>
              <a:cxnLst/>
              <a:rect l="l" t="t" r="r" b="b"/>
              <a:pathLst>
                <a:path w="1714500" h="1714500">
                  <a:moveTo>
                    <a:pt x="1714500" y="0"/>
                  </a:moveTo>
                  <a:lnTo>
                    <a:pt x="571500" y="0"/>
                  </a:lnTo>
                  <a:lnTo>
                    <a:pt x="0" y="571500"/>
                  </a:lnTo>
                  <a:lnTo>
                    <a:pt x="0" y="1714500"/>
                  </a:lnTo>
                </a:path>
              </a:pathLst>
            </a:custGeom>
            <a:noFill/>
            <a:ln w="11430">
              <a:solidFill>
                <a:srgbClr val="7C4DFF">
                  <a:alpha val="35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763250" y="5524500"/>
              <a:ext cx="1428750" cy="952500"/>
            </a:xfrm>
            <a:custGeom>
              <a:avLst/>
              <a:gdLst/>
              <a:ahLst/>
              <a:cxnLst/>
              <a:rect l="l" t="t" r="r" b="b"/>
              <a:pathLst>
                <a:path w="1428750" h="952500">
                  <a:moveTo>
                    <a:pt x="1428750" y="0"/>
                  </a:moveTo>
                  <a:lnTo>
                    <a:pt x="476250" y="0"/>
                  </a:lnTo>
                  <a:lnTo>
                    <a:pt x="0" y="476250"/>
                  </a:lnTo>
                  <a:lnTo>
                    <a:pt x="0" y="952500"/>
                  </a:lnTo>
                </a:path>
              </a:pathLst>
            </a:custGeom>
            <a:noFill/>
            <a:ln w="11430">
              <a:solidFill>
                <a:srgbClr val="7C4DFF">
                  <a:alpha val="35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400175" y="733425"/>
            <a:ext cx="9391650" cy="5772150"/>
            <a:chOff x="1400175" y="733425"/>
            <a:chExt cx="9391650" cy="5772150"/>
          </a:xfrm>
        </p:grpSpPr>
        <p:sp>
          <p:nvSpPr>
            <p:cNvPr id="14" name="Ellipse 14"/>
            <p:cNvSpPr/>
            <p:nvPr/>
          </p:nvSpPr>
          <p:spPr>
            <a:xfrm>
              <a:off x="1495425" y="733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876425" y="2638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400175" y="39719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258425" y="330517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448925" y="5686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734675" y="6448425"/>
              <a:ext cx="57150" cy="57150"/>
            </a:xfrm>
            <a:prstGeom prst="ellipse">
              <a:avLst/>
            </a:prstGeom>
            <a:solidFill>
              <a:srgbClr val="00C853">
                <a:alpha val="80000"/>
              </a:srgbClr>
            </a:solidFill>
            <a:ln>
              <a:noFill/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5562600" y="1371600"/>
            <a:ext cx="1066800" cy="1066800"/>
            <a:chOff x="5562600" y="1371600"/>
            <a:chExt cx="1066800" cy="1066800"/>
          </a:xfrm>
        </p:grpSpPr>
        <p:sp>
          <p:nvSpPr>
            <p:cNvPr id="21" name="Ellipse 21"/>
            <p:cNvSpPr/>
            <p:nvPr/>
          </p:nvSpPr>
          <p:spPr>
            <a:xfrm>
              <a:off x="5638800" y="1447800"/>
              <a:ext cx="914400" cy="914400"/>
            </a:xfrm>
            <a:prstGeom prst="ellipse">
              <a:avLst/>
            </a:prstGeom>
            <a:noFill/>
            <a:ln w="14288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5753100" y="1562100"/>
              <a:ext cx="685800" cy="685800"/>
            </a:xfrm>
            <a:prstGeom prst="ellipse">
              <a:avLst/>
            </a:prstGeom>
            <a:noFill/>
            <a:ln w="9525">
              <a:solidFill>
                <a:srgbClr val="7C4DFF">
                  <a:alpha val="40000"/>
                </a:srgbClr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019800" y="1828800"/>
              <a:ext cx="152400" cy="15240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5562600" y="1905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572250" y="1905000"/>
              <a:ext cx="57150" cy="9525"/>
            </a:xfrm>
            <a:custGeom>
              <a:avLst/>
              <a:gdLst/>
              <a:ahLst/>
              <a:cxnLst/>
              <a:rect l="l" t="t" r="r" b="b"/>
              <a:pathLst>
                <a:path w="57150" h="9525">
                  <a:moveTo>
                    <a:pt x="0" y="0"/>
                  </a:moveTo>
                  <a:lnTo>
                    <a:pt x="57150" y="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096000" y="137160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6096000" y="238125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0"/>
                  </a:moveTo>
                  <a:lnTo>
                    <a:pt x="0" y="57150"/>
                  </a:lnTo>
                </a:path>
              </a:pathLst>
            </a:custGeom>
            <a:noFill/>
            <a:ln w="9525">
              <a:solidFill>
                <a:srgbClr val="1A73E8">
                  <a:alpha val="50000"/>
                </a:srgbClr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4643266" y="2898458"/>
            <a:ext cx="290546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gradFill>
                  <a:gsLst>
                    <a:gs pos="0">
                      <a:srgbClr val="1A73E8"/>
                    </a:gs>
                    <a:gs pos="50000">
                      <a:srgbClr val="7C4DFF"/>
                    </a:gs>
                    <a:gs pos="100000">
                      <a:srgbClr val="1A73E8"/>
                    </a:gs>
                  </a:gsLst>
                  <a:lin ang="0" scaled="1"/>
                </a:gradFill>
                <a:latin typeface="Arial"/>
                <a:ea typeface="SimHei"/>
                <a:cs typeface="Arial"/>
              </a:rPr>
              <a:t>企业知识中枢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58590" y="3568065"/>
            <a:ext cx="42748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spc="225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基于AI Agent的智能知识管理平台</a:t>
            </a:r>
          </a:p>
        </p:txBody>
      </p:sp>
      <p:sp>
        <p:nvSpPr>
          <p:cNvPr id="31" name="Line 31"/>
          <p:cNvSpPr/>
          <p:nvPr/>
        </p:nvSpPr>
        <p:spPr>
          <a:xfrm>
            <a:off x="4191000" y="404812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73E8">
                <a:alpha val="40000"/>
              </a:srgbClr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3761137" y="4314825"/>
            <a:ext cx="46697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spc="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让每个员工像问资深同事一样，秒级获取企业知识</a:t>
            </a:r>
          </a:p>
        </p:txBody>
      </p:sp>
      <p:sp>
        <p:nvSpPr>
          <p:cNvPr id="33" name="Line 33"/>
          <p:cNvSpPr/>
          <p:nvPr/>
        </p:nvSpPr>
        <p:spPr>
          <a:xfrm>
            <a:off x="762000" y="6000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755904" y="6204585"/>
            <a:ext cx="10056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汇报人 / 部门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78932" y="6204585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131552" y="620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企业知识中枢团队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773936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时代背景：中国AI Agent政策十年跃迁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65810"/>
            <a:ext cx="30371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2017-2026 · 从战略布局到规模部署</a:t>
            </a:r>
          </a:p>
        </p:txBody>
      </p:sp>
      <p:sp>
        <p:nvSpPr>
          <p:cNvPr id="7" name="Line 7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76200" cap="rnd">
            <a:solidFill>
              <a:srgbClr val="1E2640"/>
            </a:solidFill>
          </a:ln>
        </p:spPr>
      </p:sp>
      <p:sp>
        <p:nvSpPr>
          <p:cNvPr id="8" name="Line 8"/>
          <p:cNvSpPr/>
          <p:nvPr/>
        </p:nvSpPr>
        <p:spPr>
          <a:xfrm>
            <a:off x="952500" y="3238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 w="28575" cap="rnd">
            <a:gradFill>
              <a:gsLst>
                <a:gs pos="0">
                  <a:srgbClr val="1A73E8"/>
                </a:gs>
                <a:gs pos="50000">
                  <a:srgbClr val="7C4DFF"/>
                </a:gs>
                <a:gs pos="100000">
                  <a:srgbClr val="00C853"/>
                </a:gs>
              </a:gsLst>
              <a:lin ang="0" scaled="1"/>
            </a:gradFill>
          </a:ln>
        </p:spPr>
      </p:sp>
      <p:sp>
        <p:nvSpPr>
          <p:cNvPr id="9" name="Rectangle 9"/>
          <p:cNvSpPr/>
          <p:nvPr/>
        </p:nvSpPr>
        <p:spPr>
          <a:xfrm>
            <a:off x="952500" y="2990850"/>
            <a:ext cx="257175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7666" y="3172778"/>
            <a:ext cx="9068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2017-2022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619500" y="2990850"/>
            <a:ext cx="247650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04666" y="3172778"/>
            <a:ext cx="9068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2023-2024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191250" y="2990850"/>
            <a:ext cx="238125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376416" y="3172778"/>
            <a:ext cx="3977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2025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667750" y="2990850"/>
            <a:ext cx="2571750" cy="495300"/>
          </a:xfrm>
          <a:prstGeom prst="roundRect">
            <a:avLst>
              <a:gd name="adj" fmla="val 50000"/>
            </a:avLst>
          </a:prstGeom>
          <a:solidFill>
            <a:srgbClr val="151B28"/>
          </a:solidFill>
          <a:ln w="4762">
            <a:solidFill>
              <a:srgbClr val="2A3040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852916" y="3172778"/>
            <a:ext cx="3977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spc="150" dirty="0">
                <a:solidFill>
                  <a:srgbClr val="6B7280"/>
                </a:solidFill>
                <a:latin typeface="Consolas"/>
                <a:ea typeface="Consolas"/>
                <a:cs typeface="Consolas"/>
              </a:rPr>
              <a:t>2026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19200" y="1238250"/>
            <a:ext cx="2038350" cy="2133600"/>
            <a:chOff x="1219200" y="1238250"/>
            <a:chExt cx="2038350" cy="2133600"/>
          </a:xfrm>
        </p:grpSpPr>
        <p:sp>
          <p:nvSpPr>
            <p:cNvPr id="17" name="Line 17"/>
            <p:cNvSpPr/>
            <p:nvPr/>
          </p:nvSpPr>
          <p:spPr>
            <a:xfrm>
              <a:off x="2238375" y="26670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18" name="Ellipse 18"/>
            <p:cNvSpPr/>
            <p:nvPr/>
          </p:nvSpPr>
          <p:spPr>
            <a:xfrm>
              <a:off x="2105025" y="3105150"/>
              <a:ext cx="266700" cy="266700"/>
            </a:xfrm>
            <a:prstGeom prst="ellipse">
              <a:avLst/>
            </a:prstGeom>
            <a:solidFill>
              <a:srgbClr val="1A73E8">
                <a:alpha val="15000"/>
              </a:srgbClr>
            </a:solidFill>
            <a:ln w="19050">
              <a:solidFill>
                <a:srgbClr val="1A73E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81225" y="3181350"/>
              <a:ext cx="114300" cy="1143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219200" y="1238250"/>
              <a:ext cx="2038350" cy="1428750"/>
            </a:xfrm>
            <a:prstGeom prst="roundRect">
              <a:avLst>
                <a:gd name="adj" fmla="val 2667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219200" y="123825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1A73E8">
                <a:alpha val="1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57788" y="13330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73E8"/>
                  </a:solidFill>
                  <a:latin typeface="Consolas"/>
                  <a:ea typeface="Microsoft YaHei"/>
                  <a:cs typeface="Consolas"/>
                </a:rPr>
                <a:t>战略布局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84554" y="1632585"/>
              <a:ext cx="1419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AI上升为国家战略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85316" y="18869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《新一代人工智能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5316" y="20774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发展规划》三步走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85697" y="2352199"/>
              <a:ext cx="797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顶层设计完成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38575" y="3105150"/>
            <a:ext cx="2038350" cy="2133600"/>
            <a:chOff x="3838575" y="3105150"/>
            <a:chExt cx="2038350" cy="2133600"/>
          </a:xfrm>
        </p:grpSpPr>
        <p:sp>
          <p:nvSpPr>
            <p:cNvPr id="28" name="Line 28"/>
            <p:cNvSpPr/>
            <p:nvPr/>
          </p:nvSpPr>
          <p:spPr>
            <a:xfrm>
              <a:off x="4857750" y="33337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7C4DFF">
                  <a:alpha val="6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29" name="Ellipse 29"/>
            <p:cNvSpPr/>
            <p:nvPr/>
          </p:nvSpPr>
          <p:spPr>
            <a:xfrm>
              <a:off x="4724400" y="3105150"/>
              <a:ext cx="266700" cy="266700"/>
            </a:xfrm>
            <a:prstGeom prst="ellipse">
              <a:avLst/>
            </a:prstGeom>
            <a:solidFill>
              <a:srgbClr val="7C4DFF">
                <a:alpha val="15000"/>
              </a:srgbClr>
            </a:solidFill>
            <a:ln w="19050">
              <a:solidFill>
                <a:srgbClr val="7C4DFF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4800600" y="3181350"/>
              <a:ext cx="114300" cy="1143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38575" y="3810000"/>
              <a:ext cx="2038350" cy="1428750"/>
            </a:xfrm>
            <a:prstGeom prst="roundRect">
              <a:avLst>
                <a:gd name="adj" fmla="val 2667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3838575" y="493395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7C4DFF">
                <a:alpha val="1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77163" y="50287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7C4DFF"/>
                  </a:solidFill>
                  <a:latin typeface="Consolas"/>
                  <a:ea typeface="Microsoft YaHei"/>
                  <a:cs typeface="Consolas"/>
                </a:rPr>
                <a:t>应用探索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03929" y="3966210"/>
              <a:ext cx="1309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"人工智能+"元年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04691" y="4220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政府工作报告首提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04691" y="4411028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"人工智能+"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05072" y="4657249"/>
              <a:ext cx="119119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大模型备案制度建立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362700" y="1047750"/>
            <a:ext cx="2038350" cy="2362200"/>
            <a:chOff x="6362700" y="1047750"/>
            <a:chExt cx="2038350" cy="2362200"/>
          </a:xfrm>
        </p:grpSpPr>
        <p:sp>
          <p:nvSpPr>
            <p:cNvPr id="39" name="Line 39"/>
            <p:cNvSpPr/>
            <p:nvPr/>
          </p:nvSpPr>
          <p:spPr>
            <a:xfrm>
              <a:off x="7381875" y="2571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1A73E8">
                  <a:alpha val="7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40" name="Ellipse 40"/>
            <p:cNvSpPr/>
            <p:nvPr/>
          </p:nvSpPr>
          <p:spPr>
            <a:xfrm>
              <a:off x="7210425" y="3067050"/>
              <a:ext cx="342900" cy="342900"/>
            </a:xfrm>
            <a:prstGeom prst="ellipse">
              <a:avLst/>
            </a:pr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286625" y="3143250"/>
              <a:ext cx="190500" cy="190500"/>
            </a:xfrm>
            <a:prstGeom prst="ellipse">
              <a:avLst/>
            </a:prstGeom>
            <a:solidFill>
              <a:srgbClr val="151B28"/>
            </a:solidFill>
            <a:ln w="28575">
              <a:solidFill>
                <a:srgbClr val="1A73E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343775" y="320040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362700" y="1047750"/>
              <a:ext cx="2038350" cy="1524000"/>
            </a:xfrm>
            <a:prstGeom prst="roundRect">
              <a:avLst>
                <a:gd name="adj" fmla="val 2500"/>
              </a:avLst>
            </a:prstGeom>
            <a:solidFill>
              <a:srgbClr val="151B28"/>
            </a:solidFill>
            <a:ln w="14288">
              <a:solidFill>
                <a:srgbClr val="1A73E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362700" y="104775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00C853">
                <a:alpha val="12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1288" y="11425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爆发规范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28054" y="1442085"/>
              <a:ext cx="1037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AI Agent元年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8816" y="1696402"/>
              <a:ext cx="1325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国发〔2025〕11号：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8816" y="1886902"/>
              <a:ext cx="11697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十年规划，2027年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28816" y="2077402"/>
              <a:ext cx="11980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智能体普及率&gt;70%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29197" y="233314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核心转折点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934450" y="3105150"/>
            <a:ext cx="2038350" cy="2228850"/>
            <a:chOff x="8934450" y="3105150"/>
            <a:chExt cx="2038350" cy="2228850"/>
          </a:xfrm>
        </p:grpSpPr>
        <p:sp>
          <p:nvSpPr>
            <p:cNvPr id="52" name="Line 52"/>
            <p:cNvSpPr/>
            <p:nvPr/>
          </p:nvSpPr>
          <p:spPr>
            <a:xfrm>
              <a:off x="9953625" y="3333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9525">
              <a:solidFill>
                <a:srgbClr val="00C853">
                  <a:alpha val="60000"/>
                </a:srgbClr>
              </a:solidFill>
              <a:custDash>
                <a:ds d="300000" sp="300000"/>
              </a:custDash>
            </a:ln>
          </p:spPr>
        </p:sp>
        <p:sp>
          <p:nvSpPr>
            <p:cNvPr id="53" name="Ellipse 53"/>
            <p:cNvSpPr/>
            <p:nvPr/>
          </p:nvSpPr>
          <p:spPr>
            <a:xfrm>
              <a:off x="9820275" y="3105150"/>
              <a:ext cx="266700" cy="266700"/>
            </a:xfrm>
            <a:prstGeom prst="ellipse">
              <a:avLst/>
            </a:prstGeom>
            <a:solidFill>
              <a:srgbClr val="00C853">
                <a:alpha val="15000"/>
              </a:srgbClr>
            </a:solidFill>
            <a:ln w="19050">
              <a:solidFill>
                <a:srgbClr val="00C853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9896475" y="3181350"/>
              <a:ext cx="114300" cy="1143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934450" y="3905250"/>
              <a:ext cx="2038350" cy="1428750"/>
            </a:xfrm>
            <a:prstGeom prst="roundRect">
              <a:avLst>
                <a:gd name="adj" fmla="val 2667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934450" y="5029200"/>
              <a:ext cx="2038350" cy="304800"/>
            </a:xfrm>
            <a:prstGeom prst="roundRect">
              <a:avLst>
                <a:gd name="adj" fmla="val 12500"/>
              </a:avLst>
            </a:prstGeom>
            <a:solidFill>
              <a:srgbClr val="00C853">
                <a:alpha val="15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673038" y="512397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规模部署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99804" y="40614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智能体写入政府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00566" y="42967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工作报告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00566" y="4534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三部门《实施意见》：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100566" y="4725352"/>
              <a:ext cx="11556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19大应用场景落地</a:t>
              </a:r>
            </a:p>
          </p:txBody>
        </p:sp>
      </p:grpSp>
      <p:sp>
        <p:nvSpPr>
          <p:cNvPr id="63" name="Rectangle 63"/>
          <p:cNvSpPr/>
          <p:nvPr/>
        </p:nvSpPr>
        <p:spPr>
          <a:xfrm>
            <a:off x="762000" y="5810250"/>
            <a:ext cx="10668000" cy="476250"/>
          </a:xfrm>
          <a:prstGeom prst="roundRect">
            <a:avLst>
              <a:gd name="adj" fmla="val 8000"/>
            </a:avLst>
          </a:prstGeom>
          <a:solidFill>
            <a:srgbClr val="151B28"/>
          </a:solidFill>
          <a:ln w="9525">
            <a:solidFill>
              <a:srgbClr val="1A73E8">
                <a:alpha val="30000"/>
              </a:srgbClr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2426284" y="5959792"/>
            <a:ext cx="73394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从"发展规划"到"智能体立法"，中国用10年构建了全球最系统的AI治理与产业促进体系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516112" y="6490335"/>
            <a:ext cx="29199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数据来源：中国政府网、中国教育网络等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4845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政策东风下的企业机遇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4087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三大层面协同发力 · 企业AI知识平台建设正当时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62000" y="1524000"/>
            <a:ext cx="3429000" cy="4191000"/>
            <a:chOff x="762000" y="1524000"/>
            <a:chExt cx="3429000" cy="4191000"/>
          </a:xfrm>
        </p:grpSpPr>
        <p:sp>
          <p:nvSpPr>
            <p:cNvPr id="7" name="Rectangle 7"/>
            <p:cNvSpPr/>
            <p:nvPr/>
          </p:nvSpPr>
          <p:spPr>
            <a:xfrm>
              <a:off x="762000" y="152400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524000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990600"/>
                  </a:lnTo>
                  <a:lnTo>
                    <a:pt x="0" y="9906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A73E8">
                <a:alpha val="12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99489" y="1756410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A73E8"/>
                  </a:solidFill>
                  <a:latin typeface="Arial"/>
                  <a:ea typeface="SimHei"/>
                  <a:cs typeface="Arial"/>
                </a:rPr>
                <a:t>战略层面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80515" y="2199799"/>
              <a:ext cx="15919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POLICY FRAMEWORK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990600" y="2514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289560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31392" y="2835592"/>
              <a:ext cx="1597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国发〔2025〕11号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154" y="3061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十年规划顶层设计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028700" y="356235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31392" y="3502342"/>
              <a:ext cx="1578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2027普及率 &gt; 70%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154" y="37280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智能体覆盖主要行业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1028700" y="4229100"/>
              <a:ext cx="76200" cy="76200"/>
            </a:xfrm>
            <a:prstGeom prst="ellipse">
              <a:avLst/>
            </a:prstGeom>
            <a:solidFill>
              <a:srgbClr val="1A73E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31392" y="4169092"/>
              <a:ext cx="15784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2035全面智能经济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32154" y="4394835"/>
              <a:ext cx="15227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AI深度融合千行百业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524000"/>
            <a:ext cx="3429000" cy="4191000"/>
            <a:chOff x="4381500" y="1524000"/>
            <a:chExt cx="3429000" cy="4191000"/>
          </a:xfrm>
        </p:grpSpPr>
        <p:sp>
          <p:nvSpPr>
            <p:cNvPr id="22" name="Rectangle 22"/>
            <p:cNvSpPr/>
            <p:nvPr/>
          </p:nvSpPr>
          <p:spPr>
            <a:xfrm>
              <a:off x="4381500" y="152400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4381500" y="1524000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990600"/>
                  </a:lnTo>
                  <a:lnTo>
                    <a:pt x="0" y="9906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7C4DFF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18989" y="1756410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7C4DFF"/>
                  </a:solidFill>
                  <a:latin typeface="Arial"/>
                  <a:ea typeface="SimHei"/>
                  <a:cs typeface="Arial"/>
                </a:rPr>
                <a:t>产业层面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30139" y="2199799"/>
              <a:ext cx="17317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INDUSTRY ECOSYSTEM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610100" y="2514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648200" y="2895600"/>
              <a:ext cx="76200" cy="762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50892" y="2835592"/>
              <a:ext cx="1368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"模数共振"行动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51654" y="3061335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大模型+数据要素双轮驱动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648200" y="3562350"/>
              <a:ext cx="76200" cy="762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50892" y="35023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共建智能体工厂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51654" y="37280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产业协作平台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4648200" y="4229100"/>
              <a:ext cx="76200" cy="76200"/>
            </a:xfrm>
            <a:prstGeom prst="ellipse">
              <a:avLst/>
            </a:prstGeom>
            <a:solidFill>
              <a:srgbClr val="7C4D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50892" y="4169092"/>
              <a:ext cx="1559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19大应用场景落地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51654" y="4394835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覆盖政务/医疗/教育/制造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001000" y="1524000"/>
            <a:ext cx="3429000" cy="4191000"/>
            <a:chOff x="8001000" y="1524000"/>
            <a:chExt cx="3429000" cy="4191000"/>
          </a:xfrm>
        </p:grpSpPr>
        <p:sp>
          <p:nvSpPr>
            <p:cNvPr id="37" name="Rectangle 37"/>
            <p:cNvSpPr/>
            <p:nvPr/>
          </p:nvSpPr>
          <p:spPr>
            <a:xfrm>
              <a:off x="8001000" y="1524000"/>
              <a:ext cx="3429000" cy="4191000"/>
            </a:xfrm>
            <a:prstGeom prst="roundRect">
              <a:avLst>
                <a:gd name="adj" fmla="val 1111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001000" y="1524000"/>
              <a:ext cx="3429000" cy="990600"/>
            </a:xfrm>
            <a:custGeom>
              <a:avLst/>
              <a:gdLst/>
              <a:ahLst/>
              <a:cxnLst/>
              <a:rect l="l" t="t" r="r" b="b"/>
              <a:pathLst>
                <a:path w="3429000" h="990600">
                  <a:moveTo>
                    <a:pt x="38100" y="0"/>
                  </a:moveTo>
                  <a:lnTo>
                    <a:pt x="3390900" y="0"/>
                  </a:lnTo>
                  <a:cubicBezTo>
                    <a:pt x="3411942" y="0"/>
                    <a:pt x="3429000" y="17058"/>
                    <a:pt x="3429000" y="38100"/>
                  </a:cubicBezTo>
                  <a:lnTo>
                    <a:pt x="3429000" y="990600"/>
                  </a:lnTo>
                  <a:lnTo>
                    <a:pt x="0" y="9906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00C853">
                <a:alpha val="12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38489" y="1756410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治理层面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09076" y="2199799"/>
              <a:ext cx="22128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spc="150" dirty="0">
                  <a:solidFill>
                    <a:srgbClr val="6B7280"/>
                  </a:solidFill>
                  <a:latin typeface="Consolas"/>
                  <a:ea typeface="Consolas"/>
                  <a:cs typeface="Consolas"/>
                </a:rPr>
                <a:t>GOVERNANCE &amp; COMPLIANCE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229600" y="25146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8267700" y="289560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70392" y="28355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智能体分类分级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71154" y="30613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按风险等级差异化管理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267700" y="356235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70392" y="3502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敏感领域严格备案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1154" y="37280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数据安全与隐私保护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267700" y="4229100"/>
              <a:ext cx="76200" cy="76200"/>
            </a:xfrm>
            <a:prstGeom prst="ellipse">
              <a:avLst/>
            </a:prstGeom>
            <a:solidFill>
              <a:srgbClr val="00C85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470392" y="4169092"/>
              <a:ext cx="1750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可控/可审计/可追责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71154" y="43948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全生命周期监管体系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2686050" y="6029325"/>
            <a:ext cx="6819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企业构建AI Agent知识平台，既是顺应国策、也是解决真实痛点的必然选择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46206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9298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企业知识管理的现实困境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五大痛点 · 量化数据揭示效率黑洞</a:t>
            </a:r>
          </a:p>
        </p:txBody>
      </p:sp>
      <p:sp>
        <p:nvSpPr>
          <p:cNvPr id="7" name="Line 7"/>
          <p:cNvSpPr/>
          <p:nvPr/>
        </p:nvSpPr>
        <p:spPr>
          <a:xfrm>
            <a:off x="1333500" y="1238250"/>
            <a:ext cx="9525" cy="4667250"/>
          </a:xfrm>
          <a:custGeom>
            <a:avLst/>
            <a:gdLst/>
            <a:ahLst/>
            <a:cxnLst/>
            <a:rect l="l" t="t" r="r" b="b"/>
            <a:pathLst>
              <a:path w="9525" h="4667250">
                <a:moveTo>
                  <a:pt x="0" y="0"/>
                </a:moveTo>
                <a:lnTo>
                  <a:pt x="0" y="4667250"/>
                </a:lnTo>
              </a:path>
            </a:pathLst>
          </a:custGeom>
          <a:noFill/>
          <a:ln w="19050">
            <a:solidFill>
              <a:srgbClr val="2A304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1162050" y="14478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40324" y="15549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Line 10"/>
          <p:cNvSpPr/>
          <p:nvPr/>
        </p:nvSpPr>
        <p:spPr>
          <a:xfrm>
            <a:off x="1504950" y="1619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11" name="Rectangle 11"/>
          <p:cNvSpPr/>
          <p:nvPr/>
        </p:nvSpPr>
        <p:spPr>
          <a:xfrm>
            <a:off x="2000250" y="13144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2000250" y="13144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2278380" y="13906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知识散落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22904" y="1442085"/>
            <a:ext cx="18053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找一份制度文件要23分钟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1404" y="1442085"/>
            <a:ext cx="12480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200人公司年损失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4118" y="1374458"/>
            <a:ext cx="132284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56,000 工时</a:t>
            </a:r>
          </a:p>
        </p:txBody>
      </p:sp>
      <p:sp>
        <p:nvSpPr>
          <p:cNvPr id="17" name="Ellipse 17"/>
          <p:cNvSpPr/>
          <p:nvPr/>
        </p:nvSpPr>
        <p:spPr>
          <a:xfrm>
            <a:off x="1162050" y="24003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240324" y="25074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9" name="Line 19"/>
          <p:cNvSpPr/>
          <p:nvPr/>
        </p:nvSpPr>
        <p:spPr>
          <a:xfrm>
            <a:off x="1504950" y="25717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20" name="Rectangle 20"/>
          <p:cNvSpPr/>
          <p:nvPr/>
        </p:nvSpPr>
        <p:spPr>
          <a:xfrm>
            <a:off x="2000250" y="22669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000250" y="22669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278380" y="23431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数据孤岛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22904" y="2394585"/>
            <a:ext cx="1716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查一个信息要切4个系统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1404" y="2394585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无统一入口，数据互不相通</a:t>
            </a:r>
          </a:p>
        </p:txBody>
      </p:sp>
      <p:sp>
        <p:nvSpPr>
          <p:cNvPr id="25" name="Ellipse 25"/>
          <p:cNvSpPr/>
          <p:nvPr/>
        </p:nvSpPr>
        <p:spPr>
          <a:xfrm>
            <a:off x="1162050" y="33528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240324" y="34599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7" name="Line 27"/>
          <p:cNvSpPr/>
          <p:nvPr/>
        </p:nvSpPr>
        <p:spPr>
          <a:xfrm>
            <a:off x="1504950" y="3524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28" name="Rectangle 28"/>
          <p:cNvSpPr/>
          <p:nvPr/>
        </p:nvSpPr>
        <p:spPr>
          <a:xfrm>
            <a:off x="2000250" y="32194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2000250" y="32194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278380" y="32956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经验流失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2904" y="3347085"/>
            <a:ext cx="1716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核心员工离职=知识归零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61404" y="33470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故障处理从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64118" y="3279458"/>
            <a:ext cx="146278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30分钟→4小时</a:t>
            </a:r>
          </a:p>
        </p:txBody>
      </p:sp>
      <p:sp>
        <p:nvSpPr>
          <p:cNvPr id="34" name="Ellipse 34"/>
          <p:cNvSpPr/>
          <p:nvPr/>
        </p:nvSpPr>
        <p:spPr>
          <a:xfrm>
            <a:off x="1162050" y="43053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240324" y="44124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6" name="Line 36"/>
          <p:cNvSpPr/>
          <p:nvPr/>
        </p:nvSpPr>
        <p:spPr>
          <a:xfrm>
            <a:off x="1504950" y="44767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37" name="Rectangle 37"/>
          <p:cNvSpPr/>
          <p:nvPr/>
        </p:nvSpPr>
        <p:spPr>
          <a:xfrm>
            <a:off x="2000250" y="41719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2000250" y="41719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278380" y="42481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安全裸奔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422904" y="4299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薪资文件谁都能搜到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61404" y="4299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无细粒度权限控制</a:t>
            </a:r>
          </a:p>
        </p:txBody>
      </p:sp>
      <p:sp>
        <p:nvSpPr>
          <p:cNvPr id="42" name="Ellipse 42"/>
          <p:cNvSpPr/>
          <p:nvPr/>
        </p:nvSpPr>
        <p:spPr>
          <a:xfrm>
            <a:off x="1162050" y="5257800"/>
            <a:ext cx="342900" cy="342900"/>
          </a:xfrm>
          <a:prstGeom prst="ellipse">
            <a:avLst/>
          </a:prstGeom>
          <a:solidFill>
            <a:srgbClr val="FF1744">
              <a:alpha val="15000"/>
            </a:srgbClr>
          </a:solidFill>
          <a:ln w="19050">
            <a:solidFill>
              <a:srgbClr val="FF1744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1240324" y="5364956"/>
            <a:ext cx="186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4" name="Line 44"/>
          <p:cNvSpPr/>
          <p:nvPr/>
        </p:nvSpPr>
        <p:spPr>
          <a:xfrm>
            <a:off x="1504950" y="5429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4288">
            <a:solidFill>
              <a:srgbClr val="FF1744"/>
            </a:solidFill>
            <a:custDash>
              <a:ds d="200000" sp="133333"/>
            </a:custDash>
          </a:ln>
        </p:spPr>
      </p:sp>
      <p:sp>
        <p:nvSpPr>
          <p:cNvPr id="45" name="Rectangle 45"/>
          <p:cNvSpPr/>
          <p:nvPr/>
        </p:nvSpPr>
        <p:spPr>
          <a:xfrm>
            <a:off x="2000250" y="5124450"/>
            <a:ext cx="9525000" cy="609600"/>
          </a:xfrm>
          <a:prstGeom prst="roundRect">
            <a:avLst>
              <a:gd name="adj" fmla="val 625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2000250" y="5124450"/>
            <a:ext cx="47625" cy="609600"/>
          </a:xfrm>
          <a:prstGeom prst="roundRect">
            <a:avLst>
              <a:gd name="adj" fmla="val 40000"/>
            </a:avLst>
          </a:prstGeom>
          <a:solidFill>
            <a:srgbClr val="FF1744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2278380" y="52006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重复问答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422904" y="5252085"/>
            <a:ext cx="24530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HR总监第47次回答"年假怎么算"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61404" y="5252085"/>
            <a:ext cx="12803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70%问题是重复的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23403" y="6490335"/>
            <a:ext cx="34126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数据来源：《软件需求规格说明书 v2.0》第2章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73E8">
                  <a:alpha val="8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685938" y="2661285"/>
            <a:ext cx="282012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150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如何让企业知识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04261" y="3232785"/>
            <a:ext cx="458347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150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从"人脑记忆 + 散落文件"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19297" y="3804285"/>
            <a:ext cx="65534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spc="150" dirty="0">
                <a:gradFill>
                  <a:gsLst>
                    <a:gs pos="0">
                      <a:srgbClr val="1A73E8">
                        <a:alpha val="8000"/>
                      </a:srgbClr>
                    </a:gs>
                    <a:gs pos="100000">
                      <a:srgbClr val="0D1117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</a:gradFill>
                <a:latin typeface="Arial"/>
                <a:ea typeface="SimHei"/>
                <a:cs typeface="Arial"/>
              </a:rPr>
              <a:t>变成"一个框、10秒钟、精准答案"？</a:t>
            </a:r>
          </a:p>
        </p:txBody>
      </p:sp>
      <p:sp>
        <p:nvSpPr>
          <p:cNvPr id="8" name="Line 8"/>
          <p:cNvSpPr/>
          <p:nvPr/>
        </p:nvSpPr>
        <p:spPr>
          <a:xfrm>
            <a:off x="1905000" y="4572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14288">
            <a:solidFill>
              <a:srgbClr val="1A73E8">
                <a:alpha val="50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10248900" y="4533900"/>
            <a:ext cx="76200" cy="76200"/>
          </a:xfrm>
          <a:prstGeom prst="ellipse">
            <a:avLst/>
          </a:prstGeom>
          <a:solidFill>
            <a:srgbClr val="00C853">
              <a:alpha val="80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421696" y="4965382"/>
            <a:ext cx="33486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这就是企业知识中枢要解决的问题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01055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9298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产品定位：企业知识中枢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691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左：一句话定位 · 右：改善前后核心指标对比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143500" cy="4953000"/>
          </a:xfrm>
          <a:prstGeom prst="roundRect">
            <a:avLst>
              <a:gd name="adj" fmla="val 769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2093652" y="2249805"/>
            <a:ext cx="20991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让每个员工都能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5234" y="27260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像问资深同事一样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45234" y="320230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秒级获取企业知识</a:t>
            </a:r>
          </a:p>
        </p:txBody>
      </p:sp>
      <p:sp>
        <p:nvSpPr>
          <p:cNvPr id="11" name="Ellipse 11"/>
          <p:cNvSpPr/>
          <p:nvPr/>
        </p:nvSpPr>
        <p:spPr>
          <a:xfrm>
            <a:off x="2914650" y="3771900"/>
            <a:ext cx="457200" cy="457200"/>
          </a:xfrm>
          <a:prstGeom prst="ellipse">
            <a:avLst/>
          </a:pr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044952" y="3905250"/>
            <a:ext cx="1965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1A73E8"/>
                </a:solidFill>
                <a:latin typeface="Consolas"/>
                <a:ea typeface="Consolas"/>
                <a:cs typeface="Consolas"/>
              </a:rPr>
              <a:t>AI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6096000" y="1333500"/>
            <a:ext cx="5524500" cy="4953000"/>
            <a:chOff x="6096000" y="1333500"/>
            <a:chExt cx="5524500" cy="4953000"/>
          </a:xfrm>
        </p:grpSpPr>
        <p:sp>
          <p:nvSpPr>
            <p:cNvPr id="13" name="Rectangle 13"/>
            <p:cNvSpPr/>
            <p:nvPr/>
          </p:nvSpPr>
          <p:spPr>
            <a:xfrm>
              <a:off x="6096000" y="1333500"/>
              <a:ext cx="5524500" cy="4953000"/>
            </a:xfrm>
            <a:prstGeom prst="roundRect">
              <a:avLst>
                <a:gd name="adj" fmla="val 769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1333500"/>
              <a:ext cx="5524500" cy="495300"/>
            </a:xfrm>
            <a:prstGeom prst="roundRect">
              <a:avLst>
                <a:gd name="adj" fmla="val 7692"/>
              </a:avLst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23404" y="15182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指标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42654" y="151828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1744"/>
                  </a:solidFill>
                  <a:latin typeface="Arial"/>
                  <a:ea typeface="SimHei"/>
                  <a:cs typeface="Arial"/>
                </a:rPr>
                <a:t>改善前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1904" y="1518285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改善后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286500" y="20383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4892" y="2140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单次查找耗时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64880" y="21240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1744"/>
                  </a:solidFill>
                  <a:latin typeface="Consolas"/>
                  <a:ea typeface="Microsoft YaHei"/>
                  <a:cs typeface="Consolas"/>
                </a:rPr>
                <a:t>23 分钟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763000" y="2381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77856" y="209169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10 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42904" y="215646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99.3%↓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286500" y="2667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4892" y="27689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跨部门信息获取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4880" y="275272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1744"/>
                  </a:solidFill>
                  <a:latin typeface="Consolas"/>
                  <a:ea typeface="Microsoft YaHei"/>
                  <a:cs typeface="Consolas"/>
                </a:rPr>
                <a:t>4 小时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763000" y="30099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77856" y="2720340"/>
              <a:ext cx="628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30 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42904" y="2785110"/>
              <a:ext cx="5775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99.8%↓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86500" y="32956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74892" y="3397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重复问题人工回答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64880" y="3381375"/>
              <a:ext cx="524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1744"/>
                  </a:solidFill>
                  <a:latin typeface="Consolas"/>
                  <a:ea typeface="Consolas"/>
                  <a:cs typeface="Consolas"/>
                </a:rPr>
                <a:t>100%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763000" y="36385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277856" y="334899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20%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42904" y="341376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80%↓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6286500" y="39243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74892" y="4026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新人上手周期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4880" y="4010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1744"/>
                  </a:solidFill>
                  <a:latin typeface="Consolas"/>
                  <a:ea typeface="Microsoft YaHei"/>
                  <a:cs typeface="Consolas"/>
                </a:rPr>
                <a:t>2 天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8763000" y="42672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277856" y="3977640"/>
              <a:ext cx="768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0.5 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2904" y="4042410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C853"/>
                  </a:solidFill>
                  <a:latin typeface="Consolas"/>
                  <a:ea typeface="Consolas"/>
                  <a:cs typeface="Consolas"/>
                </a:rPr>
                <a:t>75%↓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655123" y="6457950"/>
            <a:ext cx="488175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不是替代人，是让每个人不再把时间浪费在"找东西"上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降本增效：单次问答成本解剖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2223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核心价值页 · 传统模式 vs AI知识中枢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5334000" cy="4572000"/>
          </a:xfrm>
          <a:prstGeom prst="roundRect">
            <a:avLst>
              <a:gd name="adj" fmla="val 8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957197" y="1567815"/>
            <a:ext cx="25626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传统模式（加权平均）</a:t>
            </a:r>
          </a:p>
        </p:txBody>
      </p:sp>
      <p:sp>
        <p:nvSpPr>
          <p:cNvPr id="9" name="Rectangle 9"/>
          <p:cNvSpPr/>
          <p:nvPr/>
        </p:nvSpPr>
        <p:spPr>
          <a:xfrm>
            <a:off x="1104900" y="2095500"/>
            <a:ext cx="388620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12000"/>
            </a:srgbClr>
          </a:solidFill>
          <a:ln w="9525">
            <a:solidFill>
              <a:srgbClr val="FF1744">
                <a:alpha val="30000"/>
              </a:srgbClr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325880" y="2200275"/>
            <a:ext cx="1459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60% 自己翻文件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76311" y="2184082"/>
            <a:ext cx="11945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30.7 元/次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276350" y="2857500"/>
            <a:ext cx="371475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10000"/>
            </a:srgbClr>
          </a:solidFill>
          <a:ln w="9525">
            <a:solidFill>
              <a:srgbClr val="FF1744">
                <a:alpha val="25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497330" y="2962275"/>
            <a:ext cx="1257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30% 钉钉问人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76311" y="2946082"/>
            <a:ext cx="119457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50.8 元/次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447800" y="3619500"/>
            <a:ext cx="354330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8000"/>
            </a:srgbClr>
          </a:solidFill>
          <a:ln w="9525">
            <a:solidFill>
              <a:srgbClr val="FF1744">
                <a:alpha val="2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668780" y="3724275"/>
            <a:ext cx="157010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10% 找不到→开会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4587" y="3708082"/>
            <a:ext cx="10662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65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300 元/次</a:t>
            </a:r>
          </a:p>
        </p:txBody>
      </p:sp>
      <p:sp>
        <p:nvSpPr>
          <p:cNvPr id="18" name="Line 18"/>
          <p:cNvSpPr/>
          <p:nvPr/>
        </p:nvSpPr>
        <p:spPr>
          <a:xfrm>
            <a:off x="952500" y="447675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4288">
            <a:solidFill>
              <a:srgbClr val="FF1744">
                <a:alpha val="40000"/>
              </a:srgbClr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325118" y="4632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综合成本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1463" y="4518660"/>
            <a:ext cx="195475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27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63.6 元/次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753938" y="3230880"/>
            <a:ext cx="30312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dirty="0">
                <a:solidFill>
                  <a:srgbClr val="00C853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333500"/>
            <a:ext cx="5334000" cy="4572000"/>
          </a:xfrm>
          <a:prstGeom prst="roundRect">
            <a:avLst>
              <a:gd name="adj" fmla="val 833"/>
            </a:avLst>
          </a:prstGeom>
          <a:solidFill>
            <a:srgbClr val="151B28"/>
          </a:solidFill>
          <a:ln w="14288">
            <a:solidFill>
              <a:srgbClr val="00C853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92435" y="1567815"/>
            <a:ext cx="13221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AI知识中枢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94825" y="2369820"/>
            <a:ext cx="1717350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dirty="0">
                <a:solidFill>
                  <a:srgbClr val="00C853"/>
                </a:solidFill>
                <a:latin typeface="Consolas"/>
                <a:ea typeface="Consolas"/>
                <a:cs typeface="Consolas"/>
              </a:rPr>
              <a:t>0.27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82387" y="3202305"/>
            <a:ext cx="74222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元/次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924371" y="3759518"/>
            <a:ext cx="205825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10秒出答案 · 附来源引用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429500" y="4381500"/>
            <a:ext cx="3048000" cy="571500"/>
          </a:xfrm>
          <a:prstGeom prst="roundRect">
            <a:avLst>
              <a:gd name="adj" fmla="val 6667"/>
            </a:avLst>
          </a:prstGeom>
          <a:solidFill>
            <a:srgbClr val="00C853">
              <a:alpha val="10000"/>
            </a:srgbClr>
          </a:solidFill>
          <a:ln w="9525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022041" y="4549140"/>
            <a:ext cx="18629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成本降低 99.6%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21559" y="6282690"/>
            <a:ext cx="61488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每次问答节省 63.3 元 · 年化节约 49 万元（200人企业）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5959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降本增效：ROI投资回报全景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6372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三阶段投入产出 · 第10个月回本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428750"/>
            <a:ext cx="3524250" cy="2857500"/>
          </a:xfrm>
          <a:prstGeom prst="roundRect">
            <a:avLst>
              <a:gd name="adj" fmla="val 1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67468" y="1517332"/>
            <a:ext cx="15323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第一阶段 MVP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6904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3856" y="2282190"/>
            <a:ext cx="9469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CF0"/>
                </a:solidFill>
                <a:latin typeface="Consolas"/>
                <a:ea typeface="Microsoft YaHei"/>
                <a:cs typeface="Consolas"/>
              </a:rPr>
              <a:t>第1-3月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690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投入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3856" y="294894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33.5万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6904" y="3394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年化收益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3856" y="361569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27.2万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37666" y="4030028"/>
            <a:ext cx="8305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2个域 / 50人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428750"/>
            <a:ext cx="3524250" cy="2857500"/>
          </a:xfrm>
          <a:prstGeom prst="roundRect">
            <a:avLst>
              <a:gd name="adj" fmla="val 1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33875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352946" y="1517332"/>
            <a:ext cx="14861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第二阶段 增强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99279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96231" y="2282190"/>
            <a:ext cx="9469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CF0"/>
                </a:solidFill>
                <a:latin typeface="Consolas"/>
                <a:ea typeface="Microsoft YaHei"/>
                <a:cs typeface="Consolas"/>
              </a:rPr>
              <a:t>第4-5月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99279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投入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96231" y="2948940"/>
            <a:ext cx="6925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+13万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99279" y="3394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年化收益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6231" y="361569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60.5万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00041" y="4030028"/>
            <a:ext cx="9082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4个域 / 200人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428750"/>
            <a:ext cx="3524250" cy="2857500"/>
          </a:xfrm>
          <a:prstGeom prst="roundRect">
            <a:avLst>
              <a:gd name="adj" fmla="val 1333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09625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9115321" y="1517332"/>
            <a:ext cx="148610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第三阶段 全面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61654" y="20612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时间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58606" y="2282190"/>
            <a:ext cx="94696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8ECF0"/>
                </a:solidFill>
                <a:latin typeface="Consolas"/>
                <a:ea typeface="Microsoft YaHei"/>
                <a:cs typeface="Consolas"/>
              </a:rPr>
              <a:t>第6-8月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661654" y="272796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投入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58606" y="2948940"/>
            <a:ext cx="6925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+15万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61654" y="3394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年化收益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58606" y="3615690"/>
            <a:ext cx="83247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≥115万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62416" y="40300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全员覆盖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66725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45642" y="4807268"/>
            <a:ext cx="123498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累计投入 56万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52500" y="5095875"/>
            <a:ext cx="4953000" cy="152400"/>
          </a:xfrm>
          <a:prstGeom prst="roundRect">
            <a:avLst>
              <a:gd name="adj" fmla="val 25000"/>
            </a:avLst>
          </a:prstGeom>
          <a:solidFill>
            <a:srgbClr val="FF1744">
              <a:alpha val="5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045295" y="5122545"/>
            <a:ext cx="114841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1744"/>
                </a:solidFill>
                <a:latin typeface="Consolas"/>
                <a:ea typeface="Microsoft YaHei"/>
                <a:cs typeface="Consolas"/>
              </a:rPr>
              <a:t>投资回收期 第10个月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70142" y="4807268"/>
            <a:ext cx="17979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3年累计收益 ≥ 180万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477000" y="5095875"/>
            <a:ext cx="4572000" cy="152400"/>
          </a:xfrm>
          <a:prstGeom prst="roundRect">
            <a:avLst>
              <a:gd name="adj" fmla="val 25000"/>
            </a:avLst>
          </a:prstGeom>
          <a:solidFill>
            <a:srgbClr val="00C853">
              <a:alpha val="30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762756" y="5743575"/>
            <a:ext cx="466648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第10个月回本 · 3年ROI = 221% · 5年ROI = 733%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23403" y="6490335"/>
            <a:ext cx="34126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数据来源：《软件需求规格说明书 v2.0》第8章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85" t="0" r="8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>
              <a:alpha val="5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6948" y="25050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技术架构总览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854" y="70866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五层全栈架构 · 从前端展示到数据存储</a:t>
            </a:r>
          </a:p>
        </p:txBody>
      </p:sp>
      <p:sp>
        <p:nvSpPr>
          <p:cNvPr id="9" name="Rectangle 9"/>
          <p:cNvSpPr/>
          <p:nvPr/>
        </p:nvSpPr>
        <p:spPr>
          <a:xfrm>
            <a:off x="571500" y="1095375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605462" y="147066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1095375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36142" y="12353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前端展示层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6904" y="1489710"/>
            <a:ext cx="478185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Vue3 · TypeScript · Pinia · SCSS · Vite · Axios · SSE流式接收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37666" y="1744028"/>
            <a:ext cx="26915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响应式SPA + 组件化架构 + 实时流式交互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2114550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05462" y="2489835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2114550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1136142" y="2254568"/>
            <a:ext cx="23924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API网关层 (Spring Boot 3)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6904" y="2508885"/>
            <a:ext cx="28406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REST API · SSE Streaming · JWT认证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7666" y="2763202"/>
            <a:ext cx="20319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统一入口 + 安全鉴权 + 流量管控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133725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7C4DF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05462" y="350901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52500" y="3133725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136142" y="3273742"/>
            <a:ext cx="28263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业务服务层 (事件驱动 + CQRS)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36904" y="3528060"/>
            <a:ext cx="61993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智能问答 | 知识管理 | 权限管控 | 数据接入 | 统计仪表 | 知识目录 | 质量管控 | 反馈闭环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7666" y="3782378"/>
            <a:ext cx="41348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Spring Event异步管道 + MyBatis-Plus + 策略模式Provider切换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4152900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00C853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05462" y="4528185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D1117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9" name="Rectangle 29"/>
          <p:cNvSpPr/>
          <p:nvPr/>
        </p:nvSpPr>
        <p:spPr>
          <a:xfrm>
            <a:off x="952500" y="4152900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136142" y="4292918"/>
            <a:ext cx="7899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AI引擎层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36904" y="4547235"/>
            <a:ext cx="60726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LangChain · Ollama(qwen3) · DeepSeek · 混合检索(RRF) · Rerank · Embedding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7666" y="4801552"/>
            <a:ext cx="35955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本地LLM推理 + Provider可切换 + 语义+关键词双路召回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5172075"/>
            <a:ext cx="266700" cy="904875"/>
          </a:xfrm>
          <a:prstGeom prst="roundRect">
            <a:avLst>
              <a:gd name="adj" fmla="val 14286"/>
            </a:avLst>
          </a:prstGeom>
          <a:solidFill>
            <a:srgbClr val="6B72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05462" y="5547360"/>
            <a:ext cx="1987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E8ECF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52500" y="5172075"/>
            <a:ext cx="10668000" cy="904875"/>
          </a:xfrm>
          <a:prstGeom prst="roundRect">
            <a:avLst>
              <a:gd name="adj" fmla="val 421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36142" y="53120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9CA3AF"/>
                </a:solidFill>
                <a:latin typeface="Arial"/>
                <a:ea typeface="SimHei"/>
                <a:cs typeface="Arial"/>
              </a:rPr>
              <a:t>数据存储层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6904" y="5566410"/>
            <a:ext cx="29568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MySQL 8.0 | ChromaDB | Lucene/BM25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7666" y="5820728"/>
            <a:ext cx="30214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关系型元数据 + 向量语义检索 + 全文关键词索引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676275" y="1971675"/>
            <a:ext cx="57150" cy="3114675"/>
            <a:chOff x="676275" y="1971675"/>
            <a:chExt cx="57150" cy="3114675"/>
          </a:xfrm>
        </p:grpSpPr>
        <p:sp>
          <p:nvSpPr>
            <p:cNvPr id="39" name="Ellipse 39"/>
            <p:cNvSpPr/>
            <p:nvPr/>
          </p:nvSpPr>
          <p:spPr>
            <a:xfrm>
              <a:off x="676275" y="1971675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6275" y="2990850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76275" y="4010025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76275" y="5029200"/>
              <a:ext cx="57150" cy="57150"/>
            </a:xfrm>
            <a:prstGeom prst="ellipse">
              <a:avLst/>
            </a:prstGeom>
            <a:solidFill>
              <a:srgbClr val="1A73E8">
                <a:alpha val="30000"/>
              </a:srgbClr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7845704" y="6490335"/>
            <a:ext cx="35903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数据来源：《系统概要设计说明书 v1.0》第2.2节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技术栈选型详解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左：核心技术选型 · 右：关键设计决策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6858000" cy="4857750"/>
          </a:xfrm>
          <a:prstGeom prst="roundRect">
            <a:avLst>
              <a:gd name="adj" fmla="val 784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857250" y="1632585"/>
            <a:ext cx="7473620" cy="3391090"/>
            <a:chOff x="857250" y="1632585"/>
            <a:chExt cx="7473620" cy="3391090"/>
          </a:xfrm>
        </p:grpSpPr>
        <p:sp>
          <p:nvSpPr>
            <p:cNvPr id="8" name="Line 8"/>
            <p:cNvSpPr/>
            <p:nvPr/>
          </p:nvSpPr>
          <p:spPr>
            <a:xfrm>
              <a:off x="857250" y="20002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6404" y="1632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层级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404" y="1632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选型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4904" y="1632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选型理由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21402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前端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8642" y="2140268"/>
              <a:ext cx="1041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73E8"/>
                  </a:solidFill>
                  <a:latin typeface="Arial"/>
                  <a:ea typeface="Arial"/>
                  <a:cs typeface="Arial"/>
                </a:rPr>
                <a:t>Vue3 + Vite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4904" y="2156460"/>
              <a:ext cx="2512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生态成熟、SSE支持好、团队熟悉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57250" y="252412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42" y="26641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后端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88642" y="2664142"/>
              <a:ext cx="1248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7C4DFF"/>
                  </a:solidFill>
                  <a:latin typeface="Arial"/>
                  <a:ea typeface="Arial"/>
                  <a:cs typeface="Arial"/>
                </a:rPr>
                <a:t>Spring Boot 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4904" y="2680335"/>
              <a:ext cx="31781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企业级生态、MyBatis-Plus、安全框架完善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57250" y="3048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5642" y="3188018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CF0"/>
                  </a:solidFill>
                  <a:latin typeface="Arial"/>
                  <a:ea typeface="Arial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88642" y="3188018"/>
              <a:ext cx="1587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Ollama+DeepSeek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84904" y="3204210"/>
              <a:ext cx="4145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数据不出企业，本地qwen3做主链路，DeepSeek熔断降级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57250" y="357187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5642" y="37118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向量库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88642" y="3711892"/>
              <a:ext cx="910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73E8"/>
                  </a:solidFill>
                  <a:latin typeface="Arial"/>
                  <a:ea typeface="Arial"/>
                  <a:cs typeface="Arial"/>
                </a:rPr>
                <a:t>ChromaDB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84904" y="3728085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轻量部署、HTTP API、适合企业内网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57250" y="409575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42357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88642" y="4235768"/>
              <a:ext cx="1415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语义+BM25混合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84904" y="4251960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语义理解+关键词精确匹配互补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857250" y="4619625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45642" y="47596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权限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88642" y="4759642"/>
              <a:ext cx="10621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ABAC五维度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84904" y="4775835"/>
              <a:ext cx="30572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角色+部门+密级+职级+时间，满足等保2.0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7620000" y="1333500"/>
            <a:ext cx="4000500" cy="4857750"/>
          </a:xfrm>
          <a:prstGeom prst="roundRect">
            <a:avLst>
              <a:gd name="adj" fmla="val 952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7993380" y="15525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关键设计决策</a:t>
            </a:r>
          </a:p>
        </p:txBody>
      </p:sp>
      <p:sp>
        <p:nvSpPr>
          <p:cNvPr id="38" name="Line 38"/>
          <p:cNvSpPr/>
          <p:nvPr/>
        </p:nvSpPr>
        <p:spPr>
          <a:xfrm>
            <a:off x="7905750" y="19050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9525">
            <a:solidFill>
              <a:srgbClr val="2A304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905750" y="2143125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1A73E8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089392" y="2283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数据不出企业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090535" y="2545556"/>
            <a:ext cx="22277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全链路内网部署，LLM本地推理</a:t>
            </a:r>
          </a:p>
        </p:txBody>
      </p:sp>
      <p:sp>
        <p:nvSpPr>
          <p:cNvPr id="42" name="Rectangle 42"/>
          <p:cNvSpPr/>
          <p:nvPr/>
        </p:nvSpPr>
        <p:spPr>
          <a:xfrm>
            <a:off x="7905750" y="3048000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7C4DFF">
              <a:alpha val="8000"/>
            </a:srgbClr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089392" y="3188018"/>
            <a:ext cx="13877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Provider可切换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90535" y="3450431"/>
            <a:ext cx="3298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策略模式抽象LLM/Embedding，不绑定单一厂商</a:t>
            </a:r>
          </a:p>
        </p:txBody>
      </p:sp>
      <p:sp>
        <p:nvSpPr>
          <p:cNvPr id="45" name="Rectangle 45"/>
          <p:cNvSpPr/>
          <p:nvPr/>
        </p:nvSpPr>
        <p:spPr>
          <a:xfrm>
            <a:off x="7905750" y="3952875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00C853">
              <a:alpha val="8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089392" y="4092892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全链路异步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090535" y="4355306"/>
            <a:ext cx="339286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Spring Event异步管道，文档处理不阻塞用户操作</a:t>
            </a:r>
          </a:p>
        </p:txBody>
      </p:sp>
      <p:sp>
        <p:nvSpPr>
          <p:cNvPr id="48" name="Rectangle 48"/>
          <p:cNvSpPr/>
          <p:nvPr/>
        </p:nvSpPr>
        <p:spPr>
          <a:xfrm>
            <a:off x="7905750" y="4857750"/>
            <a:ext cx="3524250" cy="762000"/>
          </a:xfrm>
          <a:prstGeom prst="roundRect">
            <a:avLst>
              <a:gd name="adj" fmla="val 5000"/>
            </a:avLst>
          </a:prstGeom>
          <a:solidFill>
            <a:srgbClr val="FF1744">
              <a:alpha val="8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089392" y="499776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断点续传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090535" y="5260181"/>
            <a:ext cx="32038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DLQ死信队列+3次退避重试，数据同步不丢失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831123" y="6490335"/>
            <a:ext cx="2604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《系统概要设计说明书 v1.0》第4章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系统亮点六宫格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96440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六大核心亮点 · 一页纵览技术竞争力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3184554" y="1388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1A73E8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Rectangle 9"/>
          <p:cNvSpPr/>
          <p:nvPr/>
        </p:nvSpPr>
        <p:spPr>
          <a:xfrm>
            <a:off x="809625" y="1571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37230" y="1699196"/>
            <a:ext cx="194566" cy="194600"/>
            <a:chOff x="937230" y="1699196"/>
            <a:chExt cx="194566" cy="194600"/>
          </a:xfrm>
        </p:grpSpPr>
        <p:sp>
          <p:nvSpPr>
            <p:cNvPr id="10" name="Freeform 10"/>
            <p:cNvSpPr/>
            <p:nvPr/>
          </p:nvSpPr>
          <p:spPr>
            <a:xfrm>
              <a:off x="952500" y="1714500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42875" y="71438"/>
                  </a:moveTo>
                  <a:cubicBezTo>
                    <a:pt x="142875" y="110891"/>
                    <a:pt x="110891" y="142875"/>
                    <a:pt x="71438" y="142875"/>
                  </a:cubicBezTo>
                  <a:cubicBezTo>
                    <a:pt x="31984" y="142875"/>
                    <a:pt x="0" y="110891"/>
                    <a:pt x="0" y="71438"/>
                  </a:cubicBezTo>
                  <a:cubicBezTo>
                    <a:pt x="0" y="31984"/>
                    <a:pt x="31984" y="0"/>
                    <a:pt x="71438" y="0"/>
                  </a:cubicBezTo>
                  <a:cubicBezTo>
                    <a:pt x="110891" y="0"/>
                    <a:pt x="142875" y="31984"/>
                    <a:pt x="142875" y="71438"/>
                  </a:cubicBezTo>
                  <a:close/>
                </a:path>
              </a:pathLst>
            </a:custGeom>
            <a:solidFill>
              <a:srgbClr val="1A73E8">
                <a:alpha val="20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937230" y="1699196"/>
              <a:ext cx="194566" cy="194600"/>
            </a:xfrm>
            <a:custGeom>
              <a:avLst/>
              <a:gdLst/>
              <a:ahLst/>
              <a:cxnLst/>
              <a:rect l="l" t="t" r="r" b="b"/>
              <a:pathLst>
                <a:path w="194566" h="194600">
                  <a:moveTo>
                    <a:pt x="191774" y="181700"/>
                  </a:moveTo>
                  <a:lnTo>
                    <a:pt x="147072" y="136998"/>
                  </a:lnTo>
                  <a:cubicBezTo>
                    <a:pt x="174041" y="104654"/>
                    <a:pt x="170798" y="56818"/>
                    <a:pt x="139712" y="28409"/>
                  </a:cubicBezTo>
                  <a:cubicBezTo>
                    <a:pt x="108625" y="0"/>
                    <a:pt x="60692" y="1067"/>
                    <a:pt x="30901" y="30832"/>
                  </a:cubicBezTo>
                  <a:cubicBezTo>
                    <a:pt x="1110" y="60597"/>
                    <a:pt x="0" y="108529"/>
                    <a:pt x="28382" y="139641"/>
                  </a:cubicBezTo>
                  <a:cubicBezTo>
                    <a:pt x="56763" y="170752"/>
                    <a:pt x="104596" y="174037"/>
                    <a:pt x="136964" y="147097"/>
                  </a:cubicBezTo>
                  <a:lnTo>
                    <a:pt x="181666" y="191808"/>
                  </a:lnTo>
                  <a:cubicBezTo>
                    <a:pt x="184457" y="194600"/>
                    <a:pt x="188983" y="194600"/>
                    <a:pt x="191774" y="191808"/>
                  </a:cubicBezTo>
                  <a:cubicBezTo>
                    <a:pt x="194566" y="189017"/>
                    <a:pt x="194566" y="184491"/>
                    <a:pt x="191774" y="181700"/>
                  </a:cubicBezTo>
                  <a:close/>
                  <a:moveTo>
                    <a:pt x="22414" y="86742"/>
                  </a:moveTo>
                  <a:cubicBezTo>
                    <a:pt x="22414" y="51233"/>
                    <a:pt x="51199" y="22448"/>
                    <a:pt x="86707" y="22448"/>
                  </a:cubicBezTo>
                  <a:cubicBezTo>
                    <a:pt x="122216" y="22448"/>
                    <a:pt x="151001" y="51233"/>
                    <a:pt x="151001" y="86742"/>
                  </a:cubicBezTo>
                  <a:cubicBezTo>
                    <a:pt x="151001" y="122250"/>
                    <a:pt x="122216" y="151035"/>
                    <a:pt x="86707" y="151035"/>
                  </a:cubicBezTo>
                  <a:cubicBezTo>
                    <a:pt x="51215" y="150996"/>
                    <a:pt x="22453" y="122234"/>
                    <a:pt x="22414" y="86742"/>
                  </a:cubicBez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14211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混合检索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3910" y="2164556"/>
            <a:ext cx="14577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语义+关键词双路召回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3910" y="2402681"/>
            <a:ext cx="13235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RRF融合+重排精炼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4291" y="2696528"/>
            <a:ext cx="12616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40→10→5条精准收束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33875" y="1333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946929" y="1388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7C4DFF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572000" y="1571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4714875" y="1693069"/>
            <a:ext cx="171450" cy="192881"/>
            <a:chOff x="4714875" y="1693069"/>
            <a:chExt cx="171450" cy="192881"/>
          </a:xfrm>
        </p:grpSpPr>
        <p:sp>
          <p:nvSpPr>
            <p:cNvPr id="20" name="Freeform 20"/>
            <p:cNvSpPr/>
            <p:nvPr/>
          </p:nvSpPr>
          <p:spPr>
            <a:xfrm>
              <a:off x="4722019" y="1764506"/>
              <a:ext cx="157162" cy="114300"/>
            </a:xfrm>
            <a:custGeom>
              <a:avLst/>
              <a:gdLst/>
              <a:ahLst/>
              <a:cxnLst/>
              <a:rect l="l" t="t" r="r" b="b"/>
              <a:pathLst>
                <a:path w="157162" h="114300">
                  <a:moveTo>
                    <a:pt x="157162" y="7144"/>
                  </a:moveTo>
                  <a:lnTo>
                    <a:pt x="157162" y="107156"/>
                  </a:lnTo>
                  <a:cubicBezTo>
                    <a:pt x="157162" y="111102"/>
                    <a:pt x="153964" y="114300"/>
                    <a:pt x="150019" y="114300"/>
                  </a:cubicBezTo>
                  <a:lnTo>
                    <a:pt x="7144" y="114300"/>
                  </a:lnTo>
                  <a:cubicBezTo>
                    <a:pt x="3198" y="114300"/>
                    <a:pt x="0" y="111102"/>
                    <a:pt x="0" y="107156"/>
                  </a:cubicBezTo>
                  <a:lnTo>
                    <a:pt x="0" y="7144"/>
                  </a:lnTo>
                  <a:cubicBezTo>
                    <a:pt x="0" y="3198"/>
                    <a:pt x="3198" y="0"/>
                    <a:pt x="7144" y="0"/>
                  </a:cubicBezTo>
                  <a:lnTo>
                    <a:pt x="150019" y="0"/>
                  </a:lnTo>
                  <a:cubicBezTo>
                    <a:pt x="153964" y="0"/>
                    <a:pt x="157162" y="3198"/>
                    <a:pt x="157162" y="7144"/>
                  </a:cubicBezTo>
                  <a:close/>
                </a:path>
              </a:pathLst>
            </a:custGeom>
            <a:solidFill>
              <a:srgbClr val="7C4DFF">
                <a:alpha val="20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714875" y="1693069"/>
              <a:ext cx="171450" cy="192881"/>
            </a:xfrm>
            <a:custGeom>
              <a:avLst/>
              <a:gdLst/>
              <a:ahLst/>
              <a:cxnLst/>
              <a:rect l="l" t="t" r="r" b="b"/>
              <a:pathLst>
                <a:path w="171450" h="192881">
                  <a:moveTo>
                    <a:pt x="157162" y="64294"/>
                  </a:moveTo>
                  <a:lnTo>
                    <a:pt x="128588" y="64294"/>
                  </a:lnTo>
                  <a:lnTo>
                    <a:pt x="128588" y="42862"/>
                  </a:lnTo>
                  <a:cubicBezTo>
                    <a:pt x="128588" y="19190"/>
                    <a:pt x="109397" y="0"/>
                    <a:pt x="85725" y="0"/>
                  </a:cubicBezTo>
                  <a:cubicBezTo>
                    <a:pt x="62053" y="0"/>
                    <a:pt x="42862" y="19190"/>
                    <a:pt x="42862" y="42862"/>
                  </a:cubicBezTo>
                  <a:lnTo>
                    <a:pt x="42862" y="64294"/>
                  </a:lnTo>
                  <a:lnTo>
                    <a:pt x="14288" y="64294"/>
                  </a:lnTo>
                  <a:cubicBezTo>
                    <a:pt x="6397" y="64294"/>
                    <a:pt x="0" y="70690"/>
                    <a:pt x="0" y="78581"/>
                  </a:cubicBezTo>
                  <a:lnTo>
                    <a:pt x="0" y="178594"/>
                  </a:lnTo>
                  <a:cubicBezTo>
                    <a:pt x="0" y="186485"/>
                    <a:pt x="6397" y="192881"/>
                    <a:pt x="14288" y="192881"/>
                  </a:cubicBezTo>
                  <a:lnTo>
                    <a:pt x="157162" y="192881"/>
                  </a:lnTo>
                  <a:cubicBezTo>
                    <a:pt x="165053" y="192881"/>
                    <a:pt x="171450" y="186485"/>
                    <a:pt x="171450" y="178594"/>
                  </a:cubicBezTo>
                  <a:lnTo>
                    <a:pt x="171450" y="78581"/>
                  </a:lnTo>
                  <a:cubicBezTo>
                    <a:pt x="171450" y="70690"/>
                    <a:pt x="165053" y="64294"/>
                    <a:pt x="157162" y="64294"/>
                  </a:cubicBezTo>
                  <a:close/>
                  <a:moveTo>
                    <a:pt x="14288" y="107156"/>
                  </a:moveTo>
                  <a:lnTo>
                    <a:pt x="157162" y="107156"/>
                  </a:lnTo>
                  <a:lnTo>
                    <a:pt x="157162" y="121444"/>
                  </a:lnTo>
                  <a:lnTo>
                    <a:pt x="14288" y="121444"/>
                  </a:lnTo>
                  <a:close/>
                  <a:moveTo>
                    <a:pt x="14288" y="135731"/>
                  </a:moveTo>
                  <a:lnTo>
                    <a:pt x="157162" y="135731"/>
                  </a:lnTo>
                  <a:lnTo>
                    <a:pt x="157162" y="150019"/>
                  </a:lnTo>
                  <a:lnTo>
                    <a:pt x="14288" y="150019"/>
                  </a:lnTo>
                  <a:close/>
                  <a:moveTo>
                    <a:pt x="57150" y="42862"/>
                  </a:moveTo>
                  <a:cubicBezTo>
                    <a:pt x="57150" y="27081"/>
                    <a:pt x="69943" y="14288"/>
                    <a:pt x="85725" y="14288"/>
                  </a:cubicBezTo>
                  <a:cubicBezTo>
                    <a:pt x="101507" y="14288"/>
                    <a:pt x="114300" y="27081"/>
                    <a:pt x="114300" y="42862"/>
                  </a:cubicBezTo>
                  <a:lnTo>
                    <a:pt x="114300" y="64294"/>
                  </a:lnTo>
                  <a:lnTo>
                    <a:pt x="57150" y="64294"/>
                  </a:lnTo>
                  <a:close/>
                  <a:moveTo>
                    <a:pt x="157162" y="78581"/>
                  </a:moveTo>
                  <a:lnTo>
                    <a:pt x="157162" y="92869"/>
                  </a:lnTo>
                  <a:lnTo>
                    <a:pt x="14288" y="92869"/>
                  </a:lnTo>
                  <a:lnTo>
                    <a:pt x="14288" y="78581"/>
                  </a:lnTo>
                  <a:close/>
                  <a:moveTo>
                    <a:pt x="157162" y="178594"/>
                  </a:moveTo>
                  <a:lnTo>
                    <a:pt x="14288" y="178594"/>
                  </a:lnTo>
                  <a:lnTo>
                    <a:pt x="14288" y="164306"/>
                  </a:lnTo>
                  <a:lnTo>
                    <a:pt x="157162" y="164306"/>
                  </a:lnTo>
                  <a:lnTo>
                    <a:pt x="157162" y="178594"/>
                  </a:lnTo>
                  <a:close/>
                </a:path>
              </a:pathLst>
            </a:custGeom>
            <a:solidFill>
              <a:srgbClr val="7C4DFF"/>
            </a:solidFill>
            <a:ln>
              <a:noFill/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5183505" y="1743075"/>
            <a:ext cx="9561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ABAC权限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66285" y="2164556"/>
            <a:ext cx="14577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5维度细粒度访问控制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66285" y="2402681"/>
            <a:ext cx="145775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属性级权限+审计日志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66666" y="2696528"/>
            <a:ext cx="8093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等保2.0合规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333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10709304" y="1388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00C853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334375" y="1571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8465221" y="1707353"/>
            <a:ext cx="190626" cy="190626"/>
            <a:chOff x="8465221" y="1707353"/>
            <a:chExt cx="190626" cy="190626"/>
          </a:xfrm>
        </p:grpSpPr>
        <p:sp>
          <p:nvSpPr>
            <p:cNvPr id="30" name="Freeform 30"/>
            <p:cNvSpPr/>
            <p:nvPr/>
          </p:nvSpPr>
          <p:spPr>
            <a:xfrm>
              <a:off x="8473299" y="1710549"/>
              <a:ext cx="179353" cy="179353"/>
            </a:xfrm>
            <a:custGeom>
              <a:avLst/>
              <a:gdLst/>
              <a:ahLst/>
              <a:cxnLst/>
              <a:rect l="l" t="t" r="r" b="b"/>
              <a:pathLst>
                <a:path w="179353" h="179353">
                  <a:moveTo>
                    <a:pt x="162846" y="77121"/>
                  </a:moveTo>
                  <a:lnTo>
                    <a:pt x="77121" y="162846"/>
                  </a:lnTo>
                  <a:cubicBezTo>
                    <a:pt x="60344" y="179353"/>
                    <a:pt x="33395" y="179243"/>
                    <a:pt x="16752" y="162600"/>
                  </a:cubicBezTo>
                  <a:cubicBezTo>
                    <a:pt x="110" y="145958"/>
                    <a:pt x="0" y="119009"/>
                    <a:pt x="16506" y="102231"/>
                  </a:cubicBezTo>
                  <a:lnTo>
                    <a:pt x="102231" y="16506"/>
                  </a:lnTo>
                  <a:cubicBezTo>
                    <a:pt x="119009" y="0"/>
                    <a:pt x="145958" y="110"/>
                    <a:pt x="162600" y="16752"/>
                  </a:cubicBezTo>
                  <a:cubicBezTo>
                    <a:pt x="179243" y="33395"/>
                    <a:pt x="179353" y="60344"/>
                    <a:pt x="162846" y="77121"/>
                  </a:cubicBezTo>
                  <a:close/>
                </a:path>
              </a:pathLst>
            </a:custGeom>
            <a:solidFill>
              <a:srgbClr val="00C853">
                <a:alpha val="20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465221" y="1707353"/>
              <a:ext cx="190626" cy="190626"/>
            </a:xfrm>
            <a:custGeom>
              <a:avLst/>
              <a:gdLst/>
              <a:ahLst/>
              <a:cxnLst/>
              <a:rect l="l" t="t" r="r" b="b"/>
              <a:pathLst>
                <a:path w="190626" h="190626">
                  <a:moveTo>
                    <a:pt x="131383" y="59243"/>
                  </a:moveTo>
                  <a:cubicBezTo>
                    <a:pt x="132724" y="60583"/>
                    <a:pt x="133478" y="62401"/>
                    <a:pt x="133478" y="64297"/>
                  </a:cubicBezTo>
                  <a:cubicBezTo>
                    <a:pt x="133478" y="66193"/>
                    <a:pt x="132724" y="68012"/>
                    <a:pt x="131383" y="69352"/>
                  </a:cubicBezTo>
                  <a:lnTo>
                    <a:pt x="74233" y="126502"/>
                  </a:lnTo>
                  <a:cubicBezTo>
                    <a:pt x="71442" y="129293"/>
                    <a:pt x="66916" y="129293"/>
                    <a:pt x="64125" y="126502"/>
                  </a:cubicBezTo>
                  <a:cubicBezTo>
                    <a:pt x="61333" y="123710"/>
                    <a:pt x="61333" y="119185"/>
                    <a:pt x="64125" y="116393"/>
                  </a:cubicBezTo>
                  <a:lnTo>
                    <a:pt x="121275" y="59243"/>
                  </a:lnTo>
                  <a:cubicBezTo>
                    <a:pt x="122614" y="57902"/>
                    <a:pt x="124433" y="57148"/>
                    <a:pt x="126329" y="57148"/>
                  </a:cubicBezTo>
                  <a:cubicBezTo>
                    <a:pt x="128225" y="57148"/>
                    <a:pt x="130043" y="57902"/>
                    <a:pt x="131383" y="59243"/>
                  </a:cubicBezTo>
                  <a:close/>
                  <a:moveTo>
                    <a:pt x="175978" y="14648"/>
                  </a:moveTo>
                  <a:cubicBezTo>
                    <a:pt x="166600" y="5269"/>
                    <a:pt x="153880" y="0"/>
                    <a:pt x="140616" y="0"/>
                  </a:cubicBezTo>
                  <a:cubicBezTo>
                    <a:pt x="127353" y="0"/>
                    <a:pt x="114633" y="5269"/>
                    <a:pt x="105255" y="14648"/>
                  </a:cubicBezTo>
                  <a:lnTo>
                    <a:pt x="78412" y="41482"/>
                  </a:lnTo>
                  <a:cubicBezTo>
                    <a:pt x="75621" y="44273"/>
                    <a:pt x="75621" y="48799"/>
                    <a:pt x="78412" y="51590"/>
                  </a:cubicBezTo>
                  <a:cubicBezTo>
                    <a:pt x="81203" y="54382"/>
                    <a:pt x="85729" y="54382"/>
                    <a:pt x="88520" y="51590"/>
                  </a:cubicBezTo>
                  <a:lnTo>
                    <a:pt x="115363" y="24801"/>
                  </a:lnTo>
                  <a:cubicBezTo>
                    <a:pt x="129355" y="11117"/>
                    <a:pt x="151753" y="11240"/>
                    <a:pt x="165593" y="25078"/>
                  </a:cubicBezTo>
                  <a:cubicBezTo>
                    <a:pt x="179433" y="38916"/>
                    <a:pt x="179560" y="61314"/>
                    <a:pt x="165878" y="75308"/>
                  </a:cubicBezTo>
                  <a:lnTo>
                    <a:pt x="139027" y="102150"/>
                  </a:lnTo>
                  <a:cubicBezTo>
                    <a:pt x="136235" y="104939"/>
                    <a:pt x="136233" y="109463"/>
                    <a:pt x="139022" y="112254"/>
                  </a:cubicBezTo>
                  <a:cubicBezTo>
                    <a:pt x="141811" y="115046"/>
                    <a:pt x="146335" y="115048"/>
                    <a:pt x="149126" y="112259"/>
                  </a:cubicBezTo>
                  <a:lnTo>
                    <a:pt x="175978" y="85371"/>
                  </a:lnTo>
                  <a:cubicBezTo>
                    <a:pt x="185357" y="75993"/>
                    <a:pt x="190626" y="63273"/>
                    <a:pt x="190626" y="50010"/>
                  </a:cubicBezTo>
                  <a:cubicBezTo>
                    <a:pt x="190626" y="36746"/>
                    <a:pt x="185357" y="24026"/>
                    <a:pt x="175978" y="14648"/>
                  </a:cubicBezTo>
                  <a:close/>
                  <a:moveTo>
                    <a:pt x="106987" y="134145"/>
                  </a:moveTo>
                  <a:lnTo>
                    <a:pt x="80144" y="160988"/>
                  </a:lnTo>
                  <a:cubicBezTo>
                    <a:pt x="71155" y="170179"/>
                    <a:pt x="57920" y="173830"/>
                    <a:pt x="45490" y="170548"/>
                  </a:cubicBezTo>
                  <a:cubicBezTo>
                    <a:pt x="33059" y="167266"/>
                    <a:pt x="23352" y="157557"/>
                    <a:pt x="20072" y="145126"/>
                  </a:cubicBezTo>
                  <a:cubicBezTo>
                    <a:pt x="16792" y="132695"/>
                    <a:pt x="20445" y="119460"/>
                    <a:pt x="29638" y="110473"/>
                  </a:cubicBezTo>
                  <a:lnTo>
                    <a:pt x="56472" y="83639"/>
                  </a:lnTo>
                  <a:cubicBezTo>
                    <a:pt x="59263" y="80848"/>
                    <a:pt x="59263" y="76322"/>
                    <a:pt x="56472" y="73531"/>
                  </a:cubicBezTo>
                  <a:cubicBezTo>
                    <a:pt x="53680" y="70739"/>
                    <a:pt x="49155" y="70739"/>
                    <a:pt x="46363" y="73531"/>
                  </a:cubicBezTo>
                  <a:lnTo>
                    <a:pt x="19530" y="100373"/>
                  </a:lnTo>
                  <a:cubicBezTo>
                    <a:pt x="0" y="119903"/>
                    <a:pt x="0" y="151567"/>
                    <a:pt x="19530" y="171096"/>
                  </a:cubicBezTo>
                  <a:cubicBezTo>
                    <a:pt x="39059" y="190626"/>
                    <a:pt x="70723" y="190626"/>
                    <a:pt x="90253" y="171096"/>
                  </a:cubicBezTo>
                  <a:lnTo>
                    <a:pt x="117095" y="144245"/>
                  </a:lnTo>
                  <a:cubicBezTo>
                    <a:pt x="119884" y="141453"/>
                    <a:pt x="119882" y="136930"/>
                    <a:pt x="117091" y="134141"/>
                  </a:cubicBezTo>
                  <a:cubicBezTo>
                    <a:pt x="114300" y="131352"/>
                    <a:pt x="109776" y="131354"/>
                    <a:pt x="106987" y="134145"/>
                  </a:cubicBezTo>
                  <a:close/>
                </a:path>
              </a:pathLst>
            </a:custGeom>
            <a:solidFill>
              <a:srgbClr val="00C853"/>
            </a:solidFill>
            <a:ln>
              <a:noFill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8945880" y="17430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全链路溯源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28660" y="21645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每个答案都可追溯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28660" y="2402681"/>
            <a:ext cx="115485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标注文档名+章节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29041" y="26965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审计日志完整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4000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184554" y="4055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1A73E8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9625" y="4238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grpSp>
        <p:nvGrpSpPr>
          <p:cNvPr id="42" name="Group 42"/>
          <p:cNvGrpSpPr/>
          <p:nvPr/>
        </p:nvGrpSpPr>
        <p:grpSpPr>
          <a:xfrm>
            <a:off x="952500" y="4374356"/>
            <a:ext cx="171450" cy="185738"/>
            <a:chOff x="952500" y="4374356"/>
            <a:chExt cx="171450" cy="185738"/>
          </a:xfrm>
        </p:grpSpPr>
        <p:sp>
          <p:nvSpPr>
            <p:cNvPr id="40" name="Freeform 40"/>
            <p:cNvSpPr/>
            <p:nvPr/>
          </p:nvSpPr>
          <p:spPr>
            <a:xfrm>
              <a:off x="959644" y="4381500"/>
              <a:ext cx="157162" cy="85725"/>
            </a:xfrm>
            <a:custGeom>
              <a:avLst/>
              <a:gdLst/>
              <a:ahLst/>
              <a:cxnLst/>
              <a:rect l="l" t="t" r="r" b="b"/>
              <a:pathLst>
                <a:path w="157162" h="85725">
                  <a:moveTo>
                    <a:pt x="157162" y="42862"/>
                  </a:moveTo>
                  <a:cubicBezTo>
                    <a:pt x="157162" y="66535"/>
                    <a:pt x="121980" y="85725"/>
                    <a:pt x="78581" y="85725"/>
                  </a:cubicBezTo>
                  <a:cubicBezTo>
                    <a:pt x="35183" y="85725"/>
                    <a:pt x="0" y="66535"/>
                    <a:pt x="0" y="42862"/>
                  </a:cubicBezTo>
                  <a:cubicBezTo>
                    <a:pt x="0" y="19190"/>
                    <a:pt x="35183" y="0"/>
                    <a:pt x="78581" y="0"/>
                  </a:cubicBezTo>
                  <a:cubicBezTo>
                    <a:pt x="121980" y="0"/>
                    <a:pt x="157162" y="19190"/>
                    <a:pt x="157162" y="42862"/>
                  </a:cubicBezTo>
                  <a:close/>
                </a:path>
              </a:pathLst>
            </a:custGeom>
            <a:solidFill>
              <a:srgbClr val="1A73E8">
                <a:alpha val="20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52500" y="4374356"/>
              <a:ext cx="171450" cy="185738"/>
            </a:xfrm>
            <a:custGeom>
              <a:avLst/>
              <a:gdLst/>
              <a:ahLst/>
              <a:cxnLst/>
              <a:rect l="l" t="t" r="r" b="b"/>
              <a:pathLst>
                <a:path w="171450" h="185738">
                  <a:moveTo>
                    <a:pt x="85725" y="0"/>
                  </a:moveTo>
                  <a:cubicBezTo>
                    <a:pt x="37656" y="0"/>
                    <a:pt x="0" y="21967"/>
                    <a:pt x="0" y="50006"/>
                  </a:cubicBezTo>
                  <a:lnTo>
                    <a:pt x="0" y="135731"/>
                  </a:lnTo>
                  <a:cubicBezTo>
                    <a:pt x="0" y="163770"/>
                    <a:pt x="37656" y="185738"/>
                    <a:pt x="85725" y="185738"/>
                  </a:cubicBezTo>
                  <a:cubicBezTo>
                    <a:pt x="133794" y="185738"/>
                    <a:pt x="171450" y="163770"/>
                    <a:pt x="171450" y="135731"/>
                  </a:cubicBezTo>
                  <a:lnTo>
                    <a:pt x="171450" y="50006"/>
                  </a:lnTo>
                  <a:cubicBezTo>
                    <a:pt x="171450" y="21967"/>
                    <a:pt x="133794" y="0"/>
                    <a:pt x="85725" y="0"/>
                  </a:cubicBezTo>
                  <a:close/>
                  <a:moveTo>
                    <a:pt x="157162" y="92869"/>
                  </a:moveTo>
                  <a:cubicBezTo>
                    <a:pt x="157162" y="101459"/>
                    <a:pt x="150126" y="110219"/>
                    <a:pt x="137865" y="116907"/>
                  </a:cubicBezTo>
                  <a:cubicBezTo>
                    <a:pt x="124060" y="124435"/>
                    <a:pt x="105540" y="128588"/>
                    <a:pt x="85725" y="128588"/>
                  </a:cubicBezTo>
                  <a:cubicBezTo>
                    <a:pt x="65910" y="128588"/>
                    <a:pt x="47390" y="124435"/>
                    <a:pt x="33585" y="116907"/>
                  </a:cubicBezTo>
                  <a:cubicBezTo>
                    <a:pt x="21324" y="110219"/>
                    <a:pt x="14288" y="101459"/>
                    <a:pt x="14288" y="92869"/>
                  </a:cubicBezTo>
                  <a:lnTo>
                    <a:pt x="14288" y="78010"/>
                  </a:lnTo>
                  <a:cubicBezTo>
                    <a:pt x="29522" y="91404"/>
                    <a:pt x="55569" y="100012"/>
                    <a:pt x="85725" y="100012"/>
                  </a:cubicBezTo>
                  <a:cubicBezTo>
                    <a:pt x="115881" y="100012"/>
                    <a:pt x="141928" y="91369"/>
                    <a:pt x="157162" y="78010"/>
                  </a:cubicBezTo>
                  <a:close/>
                  <a:moveTo>
                    <a:pt x="33585" y="25968"/>
                  </a:moveTo>
                  <a:cubicBezTo>
                    <a:pt x="47390" y="18440"/>
                    <a:pt x="65910" y="14288"/>
                    <a:pt x="85725" y="14288"/>
                  </a:cubicBezTo>
                  <a:cubicBezTo>
                    <a:pt x="105540" y="14288"/>
                    <a:pt x="124060" y="18440"/>
                    <a:pt x="137865" y="25968"/>
                  </a:cubicBezTo>
                  <a:cubicBezTo>
                    <a:pt x="150126" y="32656"/>
                    <a:pt x="157162" y="41416"/>
                    <a:pt x="157162" y="50006"/>
                  </a:cubicBezTo>
                  <a:cubicBezTo>
                    <a:pt x="157162" y="58597"/>
                    <a:pt x="150126" y="67357"/>
                    <a:pt x="137865" y="74045"/>
                  </a:cubicBezTo>
                  <a:cubicBezTo>
                    <a:pt x="124060" y="81573"/>
                    <a:pt x="105540" y="85725"/>
                    <a:pt x="85725" y="85725"/>
                  </a:cubicBezTo>
                  <a:cubicBezTo>
                    <a:pt x="65910" y="85725"/>
                    <a:pt x="47390" y="81573"/>
                    <a:pt x="33585" y="74045"/>
                  </a:cubicBezTo>
                  <a:cubicBezTo>
                    <a:pt x="21324" y="67357"/>
                    <a:pt x="14288" y="58597"/>
                    <a:pt x="14288" y="50006"/>
                  </a:cubicBezTo>
                  <a:cubicBezTo>
                    <a:pt x="14288" y="41416"/>
                    <a:pt x="21324" y="32656"/>
                    <a:pt x="33585" y="25968"/>
                  </a:cubicBezTo>
                  <a:close/>
                  <a:moveTo>
                    <a:pt x="137865" y="159770"/>
                  </a:moveTo>
                  <a:cubicBezTo>
                    <a:pt x="124060" y="167298"/>
                    <a:pt x="105540" y="171450"/>
                    <a:pt x="85725" y="171450"/>
                  </a:cubicBezTo>
                  <a:cubicBezTo>
                    <a:pt x="65910" y="171450"/>
                    <a:pt x="47390" y="167298"/>
                    <a:pt x="33585" y="159770"/>
                  </a:cubicBezTo>
                  <a:cubicBezTo>
                    <a:pt x="21324" y="153082"/>
                    <a:pt x="14288" y="144322"/>
                    <a:pt x="14288" y="135731"/>
                  </a:cubicBezTo>
                  <a:lnTo>
                    <a:pt x="14288" y="120872"/>
                  </a:lnTo>
                  <a:cubicBezTo>
                    <a:pt x="29522" y="134267"/>
                    <a:pt x="55569" y="142875"/>
                    <a:pt x="85725" y="142875"/>
                  </a:cubicBezTo>
                  <a:cubicBezTo>
                    <a:pt x="115881" y="142875"/>
                    <a:pt x="141928" y="134231"/>
                    <a:pt x="157162" y="120872"/>
                  </a:cubicBezTo>
                  <a:lnTo>
                    <a:pt x="157162" y="135731"/>
                  </a:lnTo>
                  <a:cubicBezTo>
                    <a:pt x="157162" y="144322"/>
                    <a:pt x="150126" y="153082"/>
                    <a:pt x="137865" y="159770"/>
                  </a:cubicBezTo>
                  <a:close/>
                </a:path>
              </a:pathLst>
            </a:custGeom>
            <a:solidFill>
              <a:srgbClr val="1A73E8"/>
            </a:solidFill>
            <a:ln>
              <a:noFill/>
            </a:ln>
          </p:spPr>
        </p:sp>
      </p:grpSp>
      <p:sp>
        <p:nvSpPr>
          <p:cNvPr id="43" name="TextBox 43"/>
          <p:cNvSpPr txBox="1"/>
          <p:nvPr/>
        </p:nvSpPr>
        <p:spPr>
          <a:xfrm>
            <a:off x="1421130" y="4410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多源接入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3910" y="4831556"/>
            <a:ext cx="17076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JDBC/REST/S3统一网关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03910" y="5069681"/>
            <a:ext cx="1075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ETL标准化管道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04291" y="5363528"/>
            <a:ext cx="8545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CDC增量同步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333875" y="4000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6946929" y="4055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7C4DFF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9" name="Rectangle 49"/>
          <p:cNvSpPr/>
          <p:nvPr/>
        </p:nvSpPr>
        <p:spPr>
          <a:xfrm>
            <a:off x="4572000" y="4238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4714875" y="4360069"/>
            <a:ext cx="171450" cy="192881"/>
            <a:chOff x="4714875" y="4360069"/>
            <a:chExt cx="171450" cy="192881"/>
          </a:xfrm>
        </p:grpSpPr>
        <p:sp>
          <p:nvSpPr>
            <p:cNvPr id="50" name="Freeform 50"/>
            <p:cNvSpPr/>
            <p:nvPr/>
          </p:nvSpPr>
          <p:spPr>
            <a:xfrm>
              <a:off x="4722019" y="4431506"/>
              <a:ext cx="157162" cy="114300"/>
            </a:xfrm>
            <a:custGeom>
              <a:avLst/>
              <a:gdLst/>
              <a:ahLst/>
              <a:cxnLst/>
              <a:rect l="l" t="t" r="r" b="b"/>
              <a:pathLst>
                <a:path w="157162" h="114300">
                  <a:moveTo>
                    <a:pt x="150019" y="0"/>
                  </a:moveTo>
                  <a:lnTo>
                    <a:pt x="7144" y="0"/>
                  </a:lnTo>
                  <a:cubicBezTo>
                    <a:pt x="3198" y="0"/>
                    <a:pt x="0" y="3198"/>
                    <a:pt x="0" y="7144"/>
                  </a:cubicBezTo>
                  <a:lnTo>
                    <a:pt x="0" y="107156"/>
                  </a:lnTo>
                  <a:cubicBezTo>
                    <a:pt x="0" y="111102"/>
                    <a:pt x="3198" y="114300"/>
                    <a:pt x="7144" y="114300"/>
                  </a:cubicBezTo>
                  <a:lnTo>
                    <a:pt x="150019" y="114300"/>
                  </a:lnTo>
                  <a:cubicBezTo>
                    <a:pt x="153964" y="114300"/>
                    <a:pt x="157162" y="111102"/>
                    <a:pt x="157162" y="107156"/>
                  </a:cubicBezTo>
                  <a:lnTo>
                    <a:pt x="157162" y="7144"/>
                  </a:lnTo>
                  <a:cubicBezTo>
                    <a:pt x="157162" y="3198"/>
                    <a:pt x="153964" y="0"/>
                    <a:pt x="150019" y="0"/>
                  </a:cubicBezTo>
                  <a:close/>
                  <a:moveTo>
                    <a:pt x="78581" y="64294"/>
                  </a:moveTo>
                  <a:cubicBezTo>
                    <a:pt x="68718" y="64294"/>
                    <a:pt x="60722" y="56298"/>
                    <a:pt x="60722" y="46434"/>
                  </a:cubicBezTo>
                  <a:cubicBezTo>
                    <a:pt x="60722" y="36571"/>
                    <a:pt x="68718" y="28575"/>
                    <a:pt x="78581" y="28575"/>
                  </a:cubicBezTo>
                  <a:cubicBezTo>
                    <a:pt x="88445" y="28575"/>
                    <a:pt x="96441" y="36571"/>
                    <a:pt x="96441" y="46434"/>
                  </a:cubicBezTo>
                  <a:cubicBezTo>
                    <a:pt x="96441" y="56298"/>
                    <a:pt x="88445" y="64294"/>
                    <a:pt x="78581" y="64294"/>
                  </a:cubicBezTo>
                  <a:close/>
                </a:path>
              </a:pathLst>
            </a:custGeom>
            <a:solidFill>
              <a:srgbClr val="7C4DFF">
                <a:alpha val="20000"/>
              </a:srgbClr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4714875" y="4360069"/>
              <a:ext cx="171450" cy="192881"/>
            </a:xfrm>
            <a:custGeom>
              <a:avLst/>
              <a:gdLst/>
              <a:ahLst/>
              <a:cxnLst/>
              <a:rect l="l" t="t" r="r" b="b"/>
              <a:pathLst>
                <a:path w="171450" h="192881">
                  <a:moveTo>
                    <a:pt x="157162" y="64294"/>
                  </a:moveTo>
                  <a:lnTo>
                    <a:pt x="128588" y="64294"/>
                  </a:lnTo>
                  <a:lnTo>
                    <a:pt x="128588" y="42862"/>
                  </a:lnTo>
                  <a:cubicBezTo>
                    <a:pt x="128588" y="19190"/>
                    <a:pt x="109397" y="0"/>
                    <a:pt x="85725" y="0"/>
                  </a:cubicBezTo>
                  <a:cubicBezTo>
                    <a:pt x="62053" y="0"/>
                    <a:pt x="42862" y="19190"/>
                    <a:pt x="42862" y="42862"/>
                  </a:cubicBezTo>
                  <a:lnTo>
                    <a:pt x="42862" y="64294"/>
                  </a:lnTo>
                  <a:lnTo>
                    <a:pt x="14288" y="64294"/>
                  </a:lnTo>
                  <a:cubicBezTo>
                    <a:pt x="6397" y="64294"/>
                    <a:pt x="0" y="70690"/>
                    <a:pt x="0" y="78581"/>
                  </a:cubicBezTo>
                  <a:lnTo>
                    <a:pt x="0" y="178594"/>
                  </a:lnTo>
                  <a:cubicBezTo>
                    <a:pt x="0" y="186485"/>
                    <a:pt x="6397" y="192881"/>
                    <a:pt x="14288" y="192881"/>
                  </a:cubicBezTo>
                  <a:lnTo>
                    <a:pt x="157162" y="192881"/>
                  </a:lnTo>
                  <a:cubicBezTo>
                    <a:pt x="165053" y="192881"/>
                    <a:pt x="171450" y="186485"/>
                    <a:pt x="171450" y="178594"/>
                  </a:cubicBezTo>
                  <a:lnTo>
                    <a:pt x="171450" y="78581"/>
                  </a:lnTo>
                  <a:cubicBezTo>
                    <a:pt x="171450" y="70690"/>
                    <a:pt x="165053" y="64294"/>
                    <a:pt x="157162" y="64294"/>
                  </a:cubicBezTo>
                  <a:close/>
                  <a:moveTo>
                    <a:pt x="57150" y="42862"/>
                  </a:moveTo>
                  <a:cubicBezTo>
                    <a:pt x="57150" y="27081"/>
                    <a:pt x="69943" y="14288"/>
                    <a:pt x="85725" y="14288"/>
                  </a:cubicBezTo>
                  <a:cubicBezTo>
                    <a:pt x="101507" y="14288"/>
                    <a:pt x="114300" y="27081"/>
                    <a:pt x="114300" y="42862"/>
                  </a:cubicBezTo>
                  <a:lnTo>
                    <a:pt x="114300" y="64294"/>
                  </a:lnTo>
                  <a:lnTo>
                    <a:pt x="57150" y="64294"/>
                  </a:lnTo>
                  <a:close/>
                  <a:moveTo>
                    <a:pt x="157162" y="178594"/>
                  </a:moveTo>
                  <a:lnTo>
                    <a:pt x="14288" y="178594"/>
                  </a:lnTo>
                  <a:lnTo>
                    <a:pt x="14288" y="78581"/>
                  </a:lnTo>
                  <a:lnTo>
                    <a:pt x="157162" y="78581"/>
                  </a:lnTo>
                  <a:lnTo>
                    <a:pt x="157162" y="178594"/>
                  </a:lnTo>
                  <a:close/>
                  <a:moveTo>
                    <a:pt x="85725" y="92869"/>
                  </a:moveTo>
                  <a:cubicBezTo>
                    <a:pt x="73314" y="92873"/>
                    <a:pt x="62784" y="101981"/>
                    <a:pt x="60992" y="114262"/>
                  </a:cubicBezTo>
                  <a:cubicBezTo>
                    <a:pt x="59200" y="126543"/>
                    <a:pt x="66689" y="138280"/>
                    <a:pt x="78581" y="141830"/>
                  </a:cubicBezTo>
                  <a:lnTo>
                    <a:pt x="78581" y="157162"/>
                  </a:lnTo>
                  <a:cubicBezTo>
                    <a:pt x="78581" y="161108"/>
                    <a:pt x="81780" y="164306"/>
                    <a:pt x="85725" y="164306"/>
                  </a:cubicBezTo>
                  <a:cubicBezTo>
                    <a:pt x="89670" y="164306"/>
                    <a:pt x="92869" y="161108"/>
                    <a:pt x="92869" y="157162"/>
                  </a:cubicBezTo>
                  <a:lnTo>
                    <a:pt x="92869" y="141830"/>
                  </a:lnTo>
                  <a:cubicBezTo>
                    <a:pt x="104761" y="138280"/>
                    <a:pt x="112250" y="126543"/>
                    <a:pt x="110458" y="114262"/>
                  </a:cubicBezTo>
                  <a:cubicBezTo>
                    <a:pt x="108666" y="101981"/>
                    <a:pt x="98136" y="92873"/>
                    <a:pt x="85725" y="92869"/>
                  </a:cubicBezTo>
                  <a:close/>
                  <a:moveTo>
                    <a:pt x="85725" y="128588"/>
                  </a:moveTo>
                  <a:cubicBezTo>
                    <a:pt x="79807" y="128588"/>
                    <a:pt x="75009" y="123790"/>
                    <a:pt x="75009" y="117872"/>
                  </a:cubicBezTo>
                  <a:cubicBezTo>
                    <a:pt x="75009" y="111954"/>
                    <a:pt x="79807" y="107156"/>
                    <a:pt x="85725" y="107156"/>
                  </a:cubicBezTo>
                  <a:cubicBezTo>
                    <a:pt x="91643" y="107156"/>
                    <a:pt x="96441" y="111954"/>
                    <a:pt x="96441" y="117872"/>
                  </a:cubicBezTo>
                  <a:cubicBezTo>
                    <a:pt x="96441" y="123790"/>
                    <a:pt x="91643" y="128588"/>
                    <a:pt x="85725" y="128588"/>
                  </a:cubicBezTo>
                  <a:close/>
                </a:path>
              </a:pathLst>
            </a:custGeom>
            <a:solidFill>
              <a:srgbClr val="7C4D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5183505" y="4410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数据安全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66285" y="4831556"/>
            <a:ext cx="10715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全链路内网部署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566285" y="5069681"/>
            <a:ext cx="9475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LLM本地推理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566666" y="5363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可完全离线运行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096250" y="4000500"/>
            <a:ext cx="3524250" cy="2476500"/>
          </a:xfrm>
          <a:prstGeom prst="roundRect">
            <a:avLst>
              <a:gd name="adj" fmla="val 153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10709304" y="4055745"/>
            <a:ext cx="6444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3900" b="1" dirty="0">
                <a:solidFill>
                  <a:srgbClr val="00C853">
                    <a:alphaMod val="8000"/>
                  </a:srgbClr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9" name="Rectangle 59"/>
          <p:cNvSpPr/>
          <p:nvPr/>
        </p:nvSpPr>
        <p:spPr>
          <a:xfrm>
            <a:off x="8334375" y="4238625"/>
            <a:ext cx="457200" cy="457200"/>
          </a:xfrm>
          <a:prstGeom prst="roundRect">
            <a:avLst>
              <a:gd name="adj" fmla="val 8333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grpSp>
        <p:nvGrpSpPr>
          <p:cNvPr id="62" name="Group 62"/>
          <p:cNvGrpSpPr/>
          <p:nvPr/>
        </p:nvGrpSpPr>
        <p:grpSpPr>
          <a:xfrm>
            <a:off x="8452339" y="4382408"/>
            <a:ext cx="217837" cy="163403"/>
            <a:chOff x="8452339" y="4382408"/>
            <a:chExt cx="217837" cy="163403"/>
          </a:xfrm>
        </p:grpSpPr>
        <p:sp>
          <p:nvSpPr>
            <p:cNvPr id="60" name="Freeform 60"/>
            <p:cNvSpPr/>
            <p:nvPr/>
          </p:nvSpPr>
          <p:spPr>
            <a:xfrm>
              <a:off x="8459541" y="4390595"/>
              <a:ext cx="203446" cy="148067"/>
            </a:xfrm>
            <a:custGeom>
              <a:avLst/>
              <a:gdLst/>
              <a:ahLst/>
              <a:cxnLst/>
              <a:rect l="l" t="t" r="r" b="b"/>
              <a:pathLst>
                <a:path w="203446" h="148067">
                  <a:moveTo>
                    <a:pt x="203446" y="76630"/>
                  </a:moveTo>
                  <a:cubicBezTo>
                    <a:pt x="203446" y="116083"/>
                    <a:pt x="171463" y="148067"/>
                    <a:pt x="132009" y="148067"/>
                  </a:cubicBezTo>
                  <a:lnTo>
                    <a:pt x="53428" y="148067"/>
                  </a:lnTo>
                  <a:cubicBezTo>
                    <a:pt x="34073" y="148043"/>
                    <a:pt x="16469" y="136852"/>
                    <a:pt x="8235" y="119336"/>
                  </a:cubicBezTo>
                  <a:cubicBezTo>
                    <a:pt x="0" y="101820"/>
                    <a:pt x="2613" y="81125"/>
                    <a:pt x="14942" y="66206"/>
                  </a:cubicBezTo>
                  <a:cubicBezTo>
                    <a:pt x="27272" y="51286"/>
                    <a:pt x="47104" y="44821"/>
                    <a:pt x="65858" y="49608"/>
                  </a:cubicBezTo>
                  <a:lnTo>
                    <a:pt x="65858" y="49698"/>
                  </a:lnTo>
                  <a:cubicBezTo>
                    <a:pt x="78750" y="18076"/>
                    <a:pt x="112219" y="0"/>
                    <a:pt x="145732" y="6560"/>
                  </a:cubicBezTo>
                  <a:cubicBezTo>
                    <a:pt x="179245" y="13120"/>
                    <a:pt x="203429" y="42481"/>
                    <a:pt x="203446" y="76630"/>
                  </a:cubicBezTo>
                  <a:close/>
                </a:path>
              </a:pathLst>
            </a:custGeom>
            <a:solidFill>
              <a:srgbClr val="00C853">
                <a:alpha val="20000"/>
              </a:srgbClr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452339" y="4382408"/>
              <a:ext cx="217837" cy="163403"/>
            </a:xfrm>
            <a:custGeom>
              <a:avLst/>
              <a:gdLst/>
              <a:ahLst/>
              <a:cxnLst/>
              <a:rect l="l" t="t" r="r" b="b"/>
              <a:pathLst>
                <a:path w="217837" h="163403">
                  <a:moveTo>
                    <a:pt x="217792" y="84817"/>
                  </a:moveTo>
                  <a:cubicBezTo>
                    <a:pt x="217837" y="101830"/>
                    <a:pt x="212318" y="118391"/>
                    <a:pt x="202076" y="131975"/>
                  </a:cubicBezTo>
                  <a:cubicBezTo>
                    <a:pt x="200541" y="134017"/>
                    <a:pt x="198034" y="135085"/>
                    <a:pt x="195499" y="134777"/>
                  </a:cubicBezTo>
                  <a:cubicBezTo>
                    <a:pt x="192963" y="134469"/>
                    <a:pt x="190785" y="132831"/>
                    <a:pt x="189784" y="130481"/>
                  </a:cubicBezTo>
                  <a:cubicBezTo>
                    <a:pt x="188783" y="128132"/>
                    <a:pt x="189111" y="125426"/>
                    <a:pt x="190646" y="123385"/>
                  </a:cubicBezTo>
                  <a:cubicBezTo>
                    <a:pt x="199029" y="112278"/>
                    <a:pt x="203546" y="98732"/>
                    <a:pt x="203505" y="84817"/>
                  </a:cubicBezTo>
                  <a:cubicBezTo>
                    <a:pt x="203505" y="49309"/>
                    <a:pt x="174719" y="20523"/>
                    <a:pt x="139211" y="20523"/>
                  </a:cubicBezTo>
                  <a:cubicBezTo>
                    <a:pt x="103702" y="20523"/>
                    <a:pt x="74917" y="49309"/>
                    <a:pt x="74917" y="84817"/>
                  </a:cubicBezTo>
                  <a:cubicBezTo>
                    <a:pt x="74917" y="88763"/>
                    <a:pt x="71719" y="91961"/>
                    <a:pt x="67773" y="91961"/>
                  </a:cubicBezTo>
                  <a:cubicBezTo>
                    <a:pt x="63828" y="91961"/>
                    <a:pt x="60630" y="88763"/>
                    <a:pt x="60630" y="84817"/>
                  </a:cubicBezTo>
                  <a:cubicBezTo>
                    <a:pt x="60626" y="77608"/>
                    <a:pt x="61615" y="70433"/>
                    <a:pt x="63567" y="63493"/>
                  </a:cubicBezTo>
                  <a:cubicBezTo>
                    <a:pt x="62594" y="63386"/>
                    <a:pt x="61612" y="63386"/>
                    <a:pt x="60630" y="63386"/>
                  </a:cubicBezTo>
                  <a:cubicBezTo>
                    <a:pt x="36957" y="63386"/>
                    <a:pt x="17767" y="82576"/>
                    <a:pt x="17767" y="106248"/>
                  </a:cubicBezTo>
                  <a:cubicBezTo>
                    <a:pt x="17767" y="129921"/>
                    <a:pt x="36957" y="149111"/>
                    <a:pt x="60630" y="149111"/>
                  </a:cubicBezTo>
                  <a:lnTo>
                    <a:pt x="82061" y="149111"/>
                  </a:lnTo>
                  <a:cubicBezTo>
                    <a:pt x="86006" y="149111"/>
                    <a:pt x="89205" y="152309"/>
                    <a:pt x="89205" y="156255"/>
                  </a:cubicBezTo>
                  <a:cubicBezTo>
                    <a:pt x="89205" y="160200"/>
                    <a:pt x="86006" y="163398"/>
                    <a:pt x="82061" y="163398"/>
                  </a:cubicBezTo>
                  <a:lnTo>
                    <a:pt x="60630" y="163398"/>
                  </a:lnTo>
                  <a:cubicBezTo>
                    <a:pt x="39214" y="163403"/>
                    <a:pt x="19593" y="151435"/>
                    <a:pt x="9796" y="132391"/>
                  </a:cubicBezTo>
                  <a:cubicBezTo>
                    <a:pt x="0" y="113348"/>
                    <a:pt x="1673" y="90425"/>
                    <a:pt x="14130" y="73006"/>
                  </a:cubicBezTo>
                  <a:cubicBezTo>
                    <a:pt x="26587" y="55586"/>
                    <a:pt x="47737" y="46592"/>
                    <a:pt x="68925" y="49706"/>
                  </a:cubicBezTo>
                  <a:cubicBezTo>
                    <a:pt x="85221" y="17114"/>
                    <a:pt x="121784" y="0"/>
                    <a:pt x="157250" y="8365"/>
                  </a:cubicBezTo>
                  <a:cubicBezTo>
                    <a:pt x="192716" y="16730"/>
                    <a:pt x="217778" y="48379"/>
                    <a:pt x="217792" y="84817"/>
                  </a:cubicBezTo>
                  <a:close/>
                  <a:moveTo>
                    <a:pt x="137121" y="79763"/>
                  </a:moveTo>
                  <a:cubicBezTo>
                    <a:pt x="135781" y="78422"/>
                    <a:pt x="133963" y="77668"/>
                    <a:pt x="132067" y="77668"/>
                  </a:cubicBezTo>
                  <a:cubicBezTo>
                    <a:pt x="130171" y="77668"/>
                    <a:pt x="128353" y="78422"/>
                    <a:pt x="127013" y="79763"/>
                  </a:cubicBezTo>
                  <a:lnTo>
                    <a:pt x="98438" y="108338"/>
                  </a:lnTo>
                  <a:cubicBezTo>
                    <a:pt x="95646" y="111129"/>
                    <a:pt x="95646" y="115655"/>
                    <a:pt x="98438" y="118446"/>
                  </a:cubicBezTo>
                  <a:cubicBezTo>
                    <a:pt x="101229" y="121238"/>
                    <a:pt x="105755" y="121238"/>
                    <a:pt x="108546" y="118446"/>
                  </a:cubicBezTo>
                  <a:lnTo>
                    <a:pt x="124923" y="102060"/>
                  </a:lnTo>
                  <a:lnTo>
                    <a:pt x="124923" y="156255"/>
                  </a:lnTo>
                  <a:cubicBezTo>
                    <a:pt x="124923" y="160200"/>
                    <a:pt x="128122" y="163398"/>
                    <a:pt x="132067" y="163398"/>
                  </a:cubicBezTo>
                  <a:cubicBezTo>
                    <a:pt x="136012" y="163398"/>
                    <a:pt x="139211" y="160200"/>
                    <a:pt x="139211" y="156255"/>
                  </a:cubicBezTo>
                  <a:lnTo>
                    <a:pt x="139211" y="102060"/>
                  </a:lnTo>
                  <a:lnTo>
                    <a:pt x="155588" y="118446"/>
                  </a:lnTo>
                  <a:cubicBezTo>
                    <a:pt x="158379" y="121238"/>
                    <a:pt x="162905" y="121238"/>
                    <a:pt x="165696" y="118446"/>
                  </a:cubicBezTo>
                  <a:cubicBezTo>
                    <a:pt x="168488" y="115655"/>
                    <a:pt x="168488" y="111129"/>
                    <a:pt x="165696" y="108338"/>
                  </a:cubicBezTo>
                  <a:close/>
                </a:path>
              </a:pathLst>
            </a:custGeom>
            <a:solidFill>
              <a:srgbClr val="00C853"/>
            </a:solidFill>
            <a:ln>
              <a:noFill/>
            </a:ln>
          </p:spPr>
        </p:sp>
      </p:grpSp>
      <p:sp>
        <p:nvSpPr>
          <p:cNvPr id="63" name="TextBox 63"/>
          <p:cNvSpPr txBox="1"/>
          <p:nvPr/>
        </p:nvSpPr>
        <p:spPr>
          <a:xfrm>
            <a:off x="8945880" y="4410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事件驱动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28660" y="4831556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异步处理管道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328660" y="5069681"/>
            <a:ext cx="9475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DLQ断点续传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329041" y="53635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质量实时监控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46206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3337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31458"/>
            <a:ext cx="607719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亮点深挖：混合检索 + Rerank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从用户问题到流式答案 · 五阶段检索全链路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4476750" y="1143000"/>
            <a:ext cx="3238500" cy="438150"/>
          </a:xfrm>
          <a:prstGeom prst="roundRect">
            <a:avLst>
              <a:gd name="adj" fmla="val 8696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07494" y="12734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用户问题</a:t>
            </a:r>
          </a:p>
        </p:txBody>
      </p:sp>
      <p:sp>
        <p:nvSpPr>
          <p:cNvPr id="9" name="Line 9"/>
          <p:cNvSpPr/>
          <p:nvPr/>
        </p:nvSpPr>
        <p:spPr>
          <a:xfrm>
            <a:off x="6096000" y="1581150"/>
            <a:ext cx="1" cy="2286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4191000" y="1809750"/>
            <a:ext cx="3810000" cy="495300"/>
          </a:xfrm>
          <a:prstGeom prst="roundRect">
            <a:avLst>
              <a:gd name="adj" fmla="val 7692"/>
            </a:avLst>
          </a:prstGeom>
          <a:solidFill>
            <a:srgbClr val="1A73E8">
              <a:alpha val="8000"/>
            </a:srgbClr>
          </a:solidFill>
          <a:ln w="9525">
            <a:solidFill>
              <a:srgbClr val="1A73E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5311535" y="1902142"/>
            <a:ext cx="1568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意图解析 + 域路由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19932" y="2125028"/>
            <a:ext cx="21521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识别问题类型 · 路由到对应知识域</a:t>
            </a:r>
          </a:p>
        </p:txBody>
      </p:sp>
      <p:sp>
        <p:nvSpPr>
          <p:cNvPr id="13" name="Line 13"/>
          <p:cNvSpPr/>
          <p:nvPr/>
        </p:nvSpPr>
        <p:spPr>
          <a:xfrm flipH="1">
            <a:off x="2857500" y="2305050"/>
            <a:ext cx="2190750" cy="4572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14" name="Line 14"/>
          <p:cNvSpPr/>
          <p:nvPr/>
        </p:nvSpPr>
        <p:spPr>
          <a:xfrm>
            <a:off x="7143750" y="2305050"/>
            <a:ext cx="2190750" cy="4572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15" name="Rectangle 15"/>
          <p:cNvSpPr/>
          <p:nvPr/>
        </p:nvSpPr>
        <p:spPr>
          <a:xfrm>
            <a:off x="1143000" y="276225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2278170" y="2864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语义检索通道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62017" y="3125152"/>
            <a:ext cx="23909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ChromaDB · 向量语义 · Top-20 召回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0" y="276225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659759" y="286416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关键词检索通道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038035" y="3125152"/>
            <a:ext cx="25929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Lucene BM25 · 精确匹配 · Top-20 召回</a:t>
            </a:r>
          </a:p>
        </p:txBody>
      </p:sp>
      <p:sp>
        <p:nvSpPr>
          <p:cNvPr id="21" name="Line 21"/>
          <p:cNvSpPr/>
          <p:nvPr/>
        </p:nvSpPr>
        <p:spPr>
          <a:xfrm>
            <a:off x="2857500" y="3333750"/>
            <a:ext cx="952500" cy="5715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22" name="Line 22"/>
          <p:cNvSpPr/>
          <p:nvPr/>
        </p:nvSpPr>
        <p:spPr>
          <a:xfrm flipH="1">
            <a:off x="8382000" y="3333750"/>
            <a:ext cx="952500" cy="57150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23" name="Rectangle 23"/>
          <p:cNvSpPr/>
          <p:nvPr/>
        </p:nvSpPr>
        <p:spPr>
          <a:xfrm>
            <a:off x="3810000" y="3905250"/>
            <a:ext cx="4572000" cy="495300"/>
          </a:xfrm>
          <a:prstGeom prst="roundRect">
            <a:avLst>
              <a:gd name="adj" fmla="val 7692"/>
            </a:avLst>
          </a:prstGeom>
          <a:solidFill>
            <a:srgbClr val="7C4DFF">
              <a:alpha val="8000"/>
            </a:srgbClr>
          </a:solidFill>
          <a:ln w="9525">
            <a:solidFill>
              <a:srgbClr val="7C4D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287682" y="3997642"/>
            <a:ext cx="16166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RRF 加权融合去重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20303" y="4220528"/>
            <a:ext cx="15513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双路结果融合 · 40→10条</a:t>
            </a:r>
          </a:p>
        </p:txBody>
      </p:sp>
      <p:sp>
        <p:nvSpPr>
          <p:cNvPr id="26" name="Line 26"/>
          <p:cNvSpPr/>
          <p:nvPr/>
        </p:nvSpPr>
        <p:spPr>
          <a:xfrm>
            <a:off x="6096000" y="4400550"/>
            <a:ext cx="1" cy="36195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27" name="Rectangle 27"/>
          <p:cNvSpPr/>
          <p:nvPr/>
        </p:nvSpPr>
        <p:spPr>
          <a:xfrm>
            <a:off x="4191000" y="4762500"/>
            <a:ext cx="3810000" cy="495300"/>
          </a:xfrm>
          <a:prstGeom prst="roundRect">
            <a:avLst>
              <a:gd name="adj" fmla="val 7692"/>
            </a:avLst>
          </a:prstGeom>
          <a:solidFill>
            <a:srgbClr val="00C853">
              <a:alpha val="8000"/>
            </a:srgbClr>
          </a:solidFill>
          <a:ln w="9525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357171" y="4854892"/>
            <a:ext cx="1477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Rerank 交叉精排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217824" y="5077778"/>
            <a:ext cx="17563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语义相关性重排序 · 10→5条</a:t>
            </a:r>
          </a:p>
        </p:txBody>
      </p:sp>
      <p:sp>
        <p:nvSpPr>
          <p:cNvPr id="30" name="Line 30"/>
          <p:cNvSpPr/>
          <p:nvPr/>
        </p:nvSpPr>
        <p:spPr>
          <a:xfrm>
            <a:off x="6096000" y="5257800"/>
            <a:ext cx="1" cy="361950"/>
          </a:xfrm>
          <a:prstGeom prst="line">
            <a:avLst/>
          </a:prstGeom>
          <a:noFill/>
          <a:ln w="14288">
            <a:solidFill>
              <a:srgbClr val="1A73E8"/>
            </a:solidFill>
            <a:tailEnd type="triangle" w="lg" len="lg"/>
          </a:ln>
        </p:spPr>
      </p:sp>
      <p:sp>
        <p:nvSpPr>
          <p:cNvPr id="31" name="Rectangle 31"/>
          <p:cNvSpPr/>
          <p:nvPr/>
        </p:nvSpPr>
        <p:spPr>
          <a:xfrm>
            <a:off x="4476750" y="5619750"/>
            <a:ext cx="3238500" cy="438150"/>
          </a:xfrm>
          <a:prstGeom prst="roundRect">
            <a:avLst>
              <a:gd name="adj" fmla="val 8696"/>
            </a:avLst>
          </a:prstGeom>
          <a:solidFill>
            <a:srgbClr val="00C853">
              <a:alpha val="5000"/>
            </a:srgbClr>
          </a:solidFill>
          <a:ln w="14288">
            <a:solidFill>
              <a:srgbClr val="00C853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469145" y="5750242"/>
            <a:ext cx="12537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LLM 生成答案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02305" y="6347460"/>
            <a:ext cx="5787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单一语义检索易遗漏精确条件（如"薪资&gt;1万"），混合检索+结构化过滤补齐短板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l="85" t="0" r="85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>
              <a:alpha val="55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26948" y="212408"/>
            <a:ext cx="626558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亮点深挖：数据全链路入库管道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6854" y="67056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从数据源到三大存储 · 八步标准化管道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547" y="1132999"/>
            <a:ext cx="847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数据从哪来？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381125"/>
            <a:ext cx="1333500" cy="2533364"/>
            <a:chOff x="571500" y="1381125"/>
            <a:chExt cx="1333500" cy="2533364"/>
          </a:xfrm>
        </p:grpSpPr>
        <p:sp>
          <p:nvSpPr>
            <p:cNvPr id="10" name="Rectangle 10"/>
            <p:cNvSpPr/>
            <p:nvPr/>
          </p:nvSpPr>
          <p:spPr>
            <a:xfrm>
              <a:off x="571500" y="138112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8500" y="1466374"/>
              <a:ext cx="11395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ERP系统 (MySQL)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2719" y="1628299"/>
              <a:ext cx="73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JDBC连接器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905000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432" y="1990249"/>
              <a:ext cx="11536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CRM系统 (Oracle)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2719" y="2152174"/>
              <a:ext cx="73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JDBC连接器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242887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4837" y="2514124"/>
              <a:ext cx="9668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OA系统 (REST)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2719" y="2676049"/>
              <a:ext cx="7310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HTTP连接器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71500" y="2952750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5161" y="3037999"/>
              <a:ext cx="666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文件服务器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6442" y="3199924"/>
              <a:ext cx="8836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S3/NFS连接器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3476625"/>
              <a:ext cx="1333500" cy="400050"/>
            </a:xfrm>
            <a:prstGeom prst="roundRect">
              <a:avLst>
                <a:gd name="adj" fmla="val 952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70788" y="356187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手动上传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4324" y="3723799"/>
              <a:ext cx="6478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PDF/DOCX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2376297" y="1132999"/>
            <a:ext cx="9892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数据怎么加工？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2190750" y="1428750"/>
            <a:ext cx="8953500" cy="479107"/>
            <a:chOff x="2190750" y="1428750"/>
            <a:chExt cx="8953500" cy="479107"/>
          </a:xfrm>
        </p:grpSpPr>
        <p:sp>
          <p:nvSpPr>
            <p:cNvPr id="27" name="Rectangle 27"/>
            <p:cNvSpPr/>
            <p:nvPr/>
          </p:nvSpPr>
          <p:spPr>
            <a:xfrm>
              <a:off x="219075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A73E8">
                <a:alpha val="8000"/>
              </a:srgbClr>
            </a:solidFill>
            <a:ln w="9525">
              <a:solidFill>
                <a:srgbClr val="1A73E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61412" y="1526381"/>
              <a:ext cx="78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1 接入网关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83231" y="1731645"/>
              <a:ext cx="11390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Connector策略+CDC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71475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00050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00C853">
                <a:alpha val="6000"/>
              </a:srgbClr>
            </a:solidFill>
            <a:ln w="14288">
              <a:solidFill>
                <a:srgbClr val="00C85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371162" y="1526381"/>
              <a:ext cx="78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2 质量检查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318540" y="1731645"/>
              <a:ext cx="8879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合格≥50%放行 ↓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52450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81025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04477" y="1526381"/>
              <a:ext cx="9355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3 ETL标准化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00229" y="1731645"/>
              <a:ext cx="9440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UTF-8·字典翻译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33425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20000" y="1428750"/>
              <a:ext cx="1524000" cy="476250"/>
            </a:xfrm>
            <a:prstGeom prst="roundRect">
              <a:avLst>
                <a:gd name="adj" fmla="val 8000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990662" y="1526381"/>
              <a:ext cx="7826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4 目录索引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47127" y="1731645"/>
              <a:ext cx="8697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域→数据源→实体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144000" y="1666875"/>
              <a:ext cx="238125" cy="1"/>
            </a:xfrm>
            <a:prstGeom prst="line">
              <a:avLst/>
            </a:prstGeom>
            <a:noFill/>
            <a:ln w="9525">
              <a:solidFill>
                <a:srgbClr val="1A73E8"/>
              </a:solidFill>
              <a:tailEnd type="triangle" w="lg" len="lg"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429750" y="1428750"/>
              <a:ext cx="1714500" cy="476250"/>
            </a:xfrm>
            <a:prstGeom prst="roundRect">
              <a:avLst>
                <a:gd name="adj" fmla="val 8000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72421" y="1526381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5 切片+向量化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06692" y="1731645"/>
              <a:ext cx="9606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500字/块·32条批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66547" y="4371499"/>
            <a:ext cx="8479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spc="75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数据到哪去？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667250"/>
            <a:ext cx="28575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1679235" y="4854892"/>
            <a:ext cx="642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1A73E8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71546" y="5125402"/>
            <a:ext cx="16574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元数据·文档/切片·结构化</a:t>
            </a:r>
          </a:p>
        </p:txBody>
      </p:sp>
      <p:sp>
        <p:nvSpPr>
          <p:cNvPr id="51" name="Rectangle 51"/>
          <p:cNvSpPr/>
          <p:nvPr/>
        </p:nvSpPr>
        <p:spPr>
          <a:xfrm>
            <a:off x="3810000" y="4667250"/>
            <a:ext cx="28575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783681" y="4854892"/>
            <a:ext cx="910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C4DFF"/>
                </a:solidFill>
                <a:latin typeface="Arial"/>
                <a:ea typeface="Arial"/>
                <a:cs typeface="Arial"/>
              </a:rPr>
              <a:t>ChromaDB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557532" y="5125402"/>
            <a:ext cx="13624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向量检索·语义Top-K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048500" y="4667250"/>
            <a:ext cx="2857500" cy="762000"/>
          </a:xfrm>
          <a:prstGeom prst="roundRect">
            <a:avLst>
              <a:gd name="adj" fmla="val 5000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152562" y="4854892"/>
            <a:ext cx="6493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0C853"/>
                </a:solidFill>
                <a:latin typeface="Arial"/>
                <a:ea typeface="Arial"/>
                <a:cs typeface="Arial"/>
              </a:rPr>
              <a:t>Lucene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803566" y="5125402"/>
            <a:ext cx="13473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BM25检索·精确匹配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571500" y="5810250"/>
            <a:ext cx="3429000" cy="523875"/>
            <a:chOff x="571500" y="5810250"/>
            <a:chExt cx="3429000" cy="523875"/>
          </a:xfrm>
        </p:grpSpPr>
        <p:sp>
          <p:nvSpPr>
            <p:cNvPr id="57" name="Rectangle 57"/>
            <p:cNvSpPr/>
            <p:nvPr/>
          </p:nvSpPr>
          <p:spPr>
            <a:xfrm>
              <a:off x="571500" y="5810250"/>
              <a:ext cx="3429000" cy="523875"/>
            </a:xfrm>
            <a:prstGeom prst="roundRect">
              <a:avLst>
                <a:gd name="adj" fmla="val 727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962245" y="5898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A73E8"/>
                  </a:solidFill>
                  <a:latin typeface="Arial"/>
                  <a:ea typeface="SimHei"/>
                  <a:cs typeface="Arial"/>
                </a:rPr>
                <a:t>增量同步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43101" y="6105049"/>
              <a:ext cx="12857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时间戳/CDC捕获变更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4381500" y="5810250"/>
            <a:ext cx="3429000" cy="523875"/>
            <a:chOff x="4381500" y="5810250"/>
            <a:chExt cx="3429000" cy="523875"/>
          </a:xfrm>
        </p:grpSpPr>
        <p:sp>
          <p:nvSpPr>
            <p:cNvPr id="61" name="Rectangle 61"/>
            <p:cNvSpPr/>
            <p:nvPr/>
          </p:nvSpPr>
          <p:spPr>
            <a:xfrm>
              <a:off x="4381500" y="5810250"/>
              <a:ext cx="3429000" cy="523875"/>
            </a:xfrm>
            <a:prstGeom prst="roundRect">
              <a:avLst>
                <a:gd name="adj" fmla="val 727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72245" y="5898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质量兜底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464307" y="6105049"/>
              <a:ext cx="1263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不合格自动阻断+告警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191500" y="5810250"/>
            <a:ext cx="3429000" cy="523875"/>
            <a:chOff x="8191500" y="5810250"/>
            <a:chExt cx="3429000" cy="523875"/>
          </a:xfrm>
        </p:grpSpPr>
        <p:sp>
          <p:nvSpPr>
            <p:cNvPr id="65" name="Rectangle 65"/>
            <p:cNvSpPr/>
            <p:nvPr/>
          </p:nvSpPr>
          <p:spPr>
            <a:xfrm>
              <a:off x="8191500" y="5810250"/>
              <a:ext cx="3429000" cy="523875"/>
            </a:xfrm>
            <a:prstGeom prst="roundRect">
              <a:avLst>
                <a:gd name="adj" fmla="val 727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82245" y="58983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C4DFF"/>
                  </a:solidFill>
                  <a:latin typeface="Arial"/>
                  <a:ea typeface="SimHei"/>
                  <a:cs typeface="Arial"/>
                </a:rPr>
                <a:t>异步解耦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128621" y="6105049"/>
              <a:ext cx="15547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Spring Event·上传即返回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8653424" y="6490335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v2.0》第4.2节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3337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314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核心功能全景图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八大功能模块 · 围绕企业知识中枢协同工作</a:t>
            </a:r>
          </a:p>
        </p:txBody>
      </p:sp>
      <p:sp>
        <p:nvSpPr>
          <p:cNvPr id="7" name="Ellipse 7"/>
          <p:cNvSpPr/>
          <p:nvPr/>
        </p:nvSpPr>
        <p:spPr>
          <a:xfrm>
            <a:off x="5334000" y="2857500"/>
            <a:ext cx="1524000" cy="1524000"/>
          </a:xfrm>
          <a:prstGeom prst="ellipse">
            <a:avLst/>
          </a:prstGeom>
          <a:gradFill>
            <a:gsLst>
              <a:gs pos="0">
                <a:srgbClr val="00C853">
                  <a:alpha val="15000"/>
                </a:srgbClr>
              </a:gs>
              <a:gs pos="100000">
                <a:srgbClr val="00C85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5524500" y="3048000"/>
            <a:ext cx="1143000" cy="1143000"/>
          </a:xfrm>
          <a:prstGeom prst="ellipse">
            <a:avLst/>
          </a:prstGeom>
          <a:solidFill>
            <a:srgbClr val="151B28"/>
          </a:solidFill>
          <a:ln w="19050">
            <a:solidFill>
              <a:srgbClr val="00C853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452301" y="33623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企业知识中枢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69776" y="3677602"/>
            <a:ext cx="14524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一个框·10秒·精准答案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0" y="1524000"/>
            <a:ext cx="9525" cy="1333500"/>
          </a:xfrm>
          <a:custGeom>
            <a:avLst/>
            <a:gdLst/>
            <a:ahLst/>
            <a:cxnLst/>
            <a:rect l="l" t="t" r="r" b="b"/>
            <a:pathLst>
              <a:path w="9525" h="1333500">
                <a:moveTo>
                  <a:pt x="0" y="13335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4667250" y="952500"/>
            <a:ext cx="28575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707494" y="1044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智能问答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55696" y="1304449"/>
            <a:ext cx="22806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自然语言提问 · 流式输出 · 答案可溯源</a:t>
            </a:r>
          </a:p>
        </p:txBody>
      </p:sp>
      <p:sp>
        <p:nvSpPr>
          <p:cNvPr id="15" name="Line 15"/>
          <p:cNvSpPr/>
          <p:nvPr/>
        </p:nvSpPr>
        <p:spPr>
          <a:xfrm>
            <a:off x="6667500" y="1905000"/>
            <a:ext cx="2381250" cy="1238250"/>
          </a:xfrm>
          <a:custGeom>
            <a:avLst/>
            <a:gdLst/>
            <a:ahLst/>
            <a:cxnLst/>
            <a:rect l="l" t="t" r="r" b="b"/>
            <a:pathLst>
              <a:path w="2381250" h="1238250">
                <a:moveTo>
                  <a:pt x="0" y="1238250"/>
                </a:moveTo>
                <a:lnTo>
                  <a:pt x="238125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763000" y="1333500"/>
            <a:ext cx="28575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9803244" y="1425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知识管理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66924" y="1685449"/>
            <a:ext cx="22496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全生命周期 · 扫描件OCR · 表格保留</a:t>
            </a:r>
          </a:p>
        </p:txBody>
      </p:sp>
      <p:sp>
        <p:nvSpPr>
          <p:cNvPr id="19" name="Line 19"/>
          <p:cNvSpPr/>
          <p:nvPr/>
        </p:nvSpPr>
        <p:spPr>
          <a:xfrm>
            <a:off x="6667500" y="3810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9429750" y="3524250"/>
            <a:ext cx="238125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10231869" y="3616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多源接入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963607" y="3876199"/>
            <a:ext cx="131353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9CA3AF"/>
                </a:solidFill>
                <a:latin typeface="Arial"/>
                <a:ea typeface="Arial"/>
                <a:cs typeface="Arial"/>
              </a:rPr>
              <a:t>JDBC/REST/S3 · ETL</a:t>
            </a:r>
          </a:p>
        </p:txBody>
      </p:sp>
      <p:sp>
        <p:nvSpPr>
          <p:cNvPr id="23" name="Line 23"/>
          <p:cNvSpPr/>
          <p:nvPr/>
        </p:nvSpPr>
        <p:spPr>
          <a:xfrm>
            <a:off x="6667500" y="419100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0" y="0"/>
                </a:moveTo>
                <a:lnTo>
                  <a:pt x="2381250" y="95250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572500" y="5048250"/>
            <a:ext cx="3048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9707994" y="5140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权限管控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35173" y="5400199"/>
            <a:ext cx="17226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ABAC五维 · 全链路审计日志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0" y="4381500"/>
            <a:ext cx="9525" cy="952500"/>
          </a:xfrm>
          <a:custGeom>
            <a:avLst/>
            <a:gdLst/>
            <a:ahLst/>
            <a:cxnLst/>
            <a:rect l="l" t="t" r="r" b="b"/>
            <a:pathLst>
              <a:path w="9525" h="952500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4381500" y="5334000"/>
            <a:ext cx="3429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707494" y="54263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统计仪表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151587" y="5685949"/>
            <a:ext cx="18888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问答趋势 · 满意度 · 热点Top10</a:t>
            </a:r>
          </a:p>
        </p:txBody>
      </p:sp>
      <p:sp>
        <p:nvSpPr>
          <p:cNvPr id="31" name="Line 31"/>
          <p:cNvSpPr/>
          <p:nvPr/>
        </p:nvSpPr>
        <p:spPr>
          <a:xfrm>
            <a:off x="3143250" y="419100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2381250" y="0"/>
                </a:moveTo>
                <a:lnTo>
                  <a:pt x="0" y="95250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5048250"/>
            <a:ext cx="28575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611744" y="5140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知识目录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22618" y="5400199"/>
            <a:ext cx="135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域→源→实体 · 树形浏览</a:t>
            </a:r>
          </a:p>
        </p:txBody>
      </p:sp>
      <p:sp>
        <p:nvSpPr>
          <p:cNvPr id="35" name="Line 35"/>
          <p:cNvSpPr/>
          <p:nvPr/>
        </p:nvSpPr>
        <p:spPr>
          <a:xfrm>
            <a:off x="3238500" y="3810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2286000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81000" y="3524250"/>
            <a:ext cx="2667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325994" y="36166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质量管控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077" y="3876199"/>
            <a:ext cx="18868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多维校验 · 异常阻断 · 质量报告</a:t>
            </a:r>
          </a:p>
        </p:txBody>
      </p:sp>
      <p:sp>
        <p:nvSpPr>
          <p:cNvPr id="39" name="Line 39"/>
          <p:cNvSpPr/>
          <p:nvPr/>
        </p:nvSpPr>
        <p:spPr>
          <a:xfrm>
            <a:off x="3143250" y="1905000"/>
            <a:ext cx="2381250" cy="1238250"/>
          </a:xfrm>
          <a:custGeom>
            <a:avLst/>
            <a:gdLst/>
            <a:ahLst/>
            <a:cxnLst/>
            <a:rect l="l" t="t" r="r" b="b"/>
            <a:pathLst>
              <a:path w="2381250" h="1238250">
                <a:moveTo>
                  <a:pt x="2381250" y="123825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1A73E8">
                <a:alpha val="40000"/>
              </a:srgbClr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571500" y="1333500"/>
            <a:ext cx="2667000" cy="571500"/>
          </a:xfrm>
          <a:prstGeom prst="roundRect">
            <a:avLst>
              <a:gd name="adj" fmla="val 6667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516494" y="14258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反馈闭环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80483" y="1685449"/>
            <a:ext cx="22490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👍👎评价 · 质量持续优化 · Prompt迭代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3781425" y="2162175"/>
            <a:ext cx="4629150" cy="2819400"/>
            <a:chOff x="3781425" y="2162175"/>
            <a:chExt cx="4629150" cy="2819400"/>
          </a:xfrm>
        </p:grpSpPr>
        <p:sp>
          <p:nvSpPr>
            <p:cNvPr id="43" name="Ellipse 43"/>
            <p:cNvSpPr/>
            <p:nvPr/>
          </p:nvSpPr>
          <p:spPr>
            <a:xfrm>
              <a:off x="6067425" y="216217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877175" y="2447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353425" y="3590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7877175" y="4733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067425" y="49244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257675" y="4733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781425" y="3590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4257675" y="2447925"/>
              <a:ext cx="57150" cy="57150"/>
            </a:xfrm>
            <a:prstGeom prst="ellipse">
              <a:avLst/>
            </a:prstGeom>
            <a:solidFill>
              <a:srgbClr val="00C853">
                <a:alpha val="60000"/>
              </a:srgbClr>
            </a:solidFill>
            <a:ln>
              <a:noFill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1246206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497434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智能问答：不止是"聊天"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7180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从关键词搜索到自然语言精准问答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6477000" cy="4381500"/>
          </a:xfrm>
          <a:prstGeom prst="roundRect">
            <a:avLst>
              <a:gd name="adj" fmla="val 87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45642" y="1521142"/>
            <a:ext cx="1921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与传统企业搜索的差异</a:t>
            </a:r>
          </a:p>
        </p:txBody>
      </p:sp>
      <p:sp>
        <p:nvSpPr>
          <p:cNvPr id="9" name="Line 9"/>
          <p:cNvSpPr/>
          <p:nvPr/>
        </p:nvSpPr>
        <p:spPr>
          <a:xfrm>
            <a:off x="762000" y="1857375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2A3040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762000" y="2029778"/>
            <a:ext cx="6816757" cy="2552128"/>
            <a:chOff x="762000" y="2029778"/>
            <a:chExt cx="6816757" cy="2552128"/>
          </a:xfrm>
        </p:grpSpPr>
        <p:sp>
          <p:nvSpPr>
            <p:cNvPr id="10" name="TextBox 10"/>
            <p:cNvSpPr txBox="1"/>
            <p:nvPr/>
          </p:nvSpPr>
          <p:spPr>
            <a:xfrm>
              <a:off x="851916" y="202977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471166" y="20297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传统关键词搜索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47666" y="202977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企业知识中枢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62000" y="2286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1154" y="24422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70785" y="2450306"/>
              <a:ext cx="15107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"绩效考核 制度 2024"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47285" y="2450306"/>
              <a:ext cx="26314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"研发部2024年绩效考核周期是多久？"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62000" y="27622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1154" y="2918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返回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70785" y="2926556"/>
              <a:ext cx="1018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128个文件列表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285" y="2926556"/>
              <a:ext cx="16092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一个精准答案+引用来源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62000" y="32385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154" y="33947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理解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70785" y="340280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字面匹配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47285" y="3402806"/>
              <a:ext cx="1472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薪酬=工资=薪水=报酬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62000" y="37147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1154" y="3870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溯源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70785" y="3879056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点开文件自己找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7285" y="3879056"/>
              <a:ext cx="1457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直接标注文档名+章节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62000" y="419100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4762">
              <a:solidFill>
                <a:srgbClr val="2A304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1154" y="43472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学习成本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0785" y="4355306"/>
              <a:ext cx="1541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1744"/>
                  </a:solidFill>
                  <a:latin typeface="Arial"/>
                  <a:ea typeface="Microsoft YaHei"/>
                  <a:cs typeface="Arial"/>
                </a:rPr>
                <a:t>需要知道正确"关键词"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285" y="435530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日常语言即可</a:t>
              </a:r>
            </a:p>
          </p:txBody>
        </p:sp>
      </p:grpSp>
      <p:sp>
        <p:nvSpPr>
          <p:cNvPr id="34" name="Rectangle 34"/>
          <p:cNvSpPr/>
          <p:nvPr/>
        </p:nvSpPr>
        <p:spPr>
          <a:xfrm>
            <a:off x="7239000" y="1333500"/>
            <a:ext cx="4381500" cy="2095500"/>
          </a:xfrm>
          <a:prstGeom prst="roundRect">
            <a:avLst>
              <a:gd name="adj" fmla="val 1818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517892" y="152114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四种问答能力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429500" y="1857375"/>
            <a:ext cx="4095750" cy="819150"/>
            <a:chOff x="7429500" y="1857375"/>
            <a:chExt cx="4095750" cy="819150"/>
          </a:xfrm>
        </p:grpSpPr>
        <p:sp>
          <p:nvSpPr>
            <p:cNvPr id="36" name="Rectangle 36"/>
            <p:cNvSpPr/>
            <p:nvPr/>
          </p:nvSpPr>
          <p:spPr>
            <a:xfrm>
              <a:off x="7429500" y="185737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7653" y="1955006"/>
              <a:ext cx="1843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语义问答："年假怎么算？"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525000" y="185737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7C4DFF">
                <a:alpha val="8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671304" y="195500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结构化查询："月薪&gt;1万"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429500" y="233362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00C853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8232" y="2431256"/>
              <a:ext cx="1722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日期范围："2024年入职"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525000" y="2333625"/>
              <a:ext cx="2000250" cy="342900"/>
            </a:xfrm>
            <a:prstGeom prst="roundRect">
              <a:avLst>
                <a:gd name="adj" fmla="val 11111"/>
              </a:avLst>
            </a:prstGeom>
            <a:solidFill>
              <a:srgbClr val="1A73E8">
                <a:alpha val="8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678876" y="2431256"/>
              <a:ext cx="1692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枚举匹配："已完成状态"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7239000" y="3619500"/>
            <a:ext cx="4381500" cy="2095500"/>
          </a:xfrm>
          <a:prstGeom prst="roundRect">
            <a:avLst>
              <a:gd name="adj" fmla="val 1818"/>
            </a:avLst>
          </a:prstGeom>
          <a:solidFill>
            <a:srgbClr val="151B28"/>
          </a:solidFill>
          <a:ln w="9525">
            <a:solidFill>
              <a:srgbClr val="00C853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7517892" y="3807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场景示例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19035" y="4164806"/>
            <a:ext cx="26011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员工输入："出差报销需要什么材料？"</a:t>
            </a:r>
          </a:p>
        </p:txBody>
      </p:sp>
      <p:sp>
        <p:nvSpPr>
          <p:cNvPr id="48" name="Line 48"/>
          <p:cNvSpPr/>
          <p:nvPr/>
        </p:nvSpPr>
        <p:spPr>
          <a:xfrm>
            <a:off x="7524750" y="442912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19035" y="4593431"/>
            <a:ext cx="26466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→ 系统秒回："根据《财务报销制度》：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9035" y="4831556"/>
            <a:ext cx="33735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出差申请单+发票原件+行程单，3个工作日内提交"</a:t>
            </a:r>
          </a:p>
        </p:txBody>
      </p:sp>
      <p:sp>
        <p:nvSpPr>
          <p:cNvPr id="51" name="Rectangle 51"/>
          <p:cNvSpPr/>
          <p:nvPr/>
        </p:nvSpPr>
        <p:spPr>
          <a:xfrm>
            <a:off x="7524750" y="5143500"/>
            <a:ext cx="1905000" cy="266700"/>
          </a:xfrm>
          <a:prstGeom prst="roundRect">
            <a:avLst>
              <a:gd name="adj" fmla="val 14286"/>
            </a:avLst>
          </a:prstGeom>
          <a:solidFill>
            <a:srgbClr val="00C853">
              <a:alpha val="8000"/>
            </a:srgbClr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18980" y="5228749"/>
            <a:ext cx="21165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来源：《财务报销制度 v3.1》第4章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653424" y="6490335"/>
            <a:ext cx="27826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v2.0》第5.1节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12408"/>
            <a:ext cx="410609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知识管理 + 多源接入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670560"/>
            <a:ext cx="42365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上：知识全生命周期管理 · 下：四种数据源接入方式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109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知识管理全生命周期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762000" y="1381125"/>
            <a:ext cx="8858250" cy="482441"/>
            <a:chOff x="762000" y="1381125"/>
            <a:chExt cx="8858250" cy="482441"/>
          </a:xfrm>
        </p:grpSpPr>
        <p:sp>
          <p:nvSpPr>
            <p:cNvPr id="8" name="Rectangle 8"/>
            <p:cNvSpPr/>
            <p:nvPr/>
          </p:nvSpPr>
          <p:spPr>
            <a:xfrm>
              <a:off x="762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1A73E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6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上传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06462" y="1701641"/>
              <a:ext cx="54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6B7280"/>
                  </a:solidFill>
                  <a:latin typeface="Arial"/>
                  <a:ea typeface="Arial"/>
                  <a:cs typeface="Arial"/>
                </a:rPr>
                <a:t>UPLOADED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000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40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解析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524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810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64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切片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048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08880" y="1497806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向量化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572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58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12390" y="1497806"/>
              <a:ext cx="3294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E8ECF0"/>
                  </a:solidFill>
                  <a:latin typeface="Arial"/>
                  <a:ea typeface="SimHei"/>
                  <a:cs typeface="Arial"/>
                </a:rPr>
                <a:t>入库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096250" y="1609725"/>
              <a:ext cx="238125" cy="9525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9525">
              <a:solidFill>
                <a:srgbClr val="1A73E8">
                  <a:alpha val="60000"/>
                </a:srgbClr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82000" y="1381125"/>
              <a:ext cx="1238250" cy="457200"/>
            </a:xfrm>
            <a:prstGeom prst="roundRect">
              <a:avLst>
                <a:gd name="adj" fmla="val 8333"/>
              </a:avLst>
            </a:prstGeom>
            <a:solidFill>
              <a:srgbClr val="00C853">
                <a:alpha val="8000"/>
              </a:srgbClr>
            </a:solidFill>
            <a:ln w="9525">
              <a:solidFill>
                <a:srgbClr val="00C85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756880" y="1497806"/>
              <a:ext cx="488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可检索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3663" y="1942624"/>
            <a:ext cx="8440217" cy="190690"/>
            <a:chOff x="1113663" y="1942624"/>
            <a:chExt cx="8440217" cy="190690"/>
          </a:xfrm>
        </p:grpSpPr>
        <p:sp>
          <p:nvSpPr>
            <p:cNvPr id="27" name="TextBox 27"/>
            <p:cNvSpPr txBox="1"/>
            <p:nvPr/>
          </p:nvSpPr>
          <p:spPr>
            <a:xfrm>
              <a:off x="1113663" y="19426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状态追踪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37663" y="1942624"/>
              <a:ext cx="5349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失败重试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72538" y="1942624"/>
              <a:ext cx="5611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500字/块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48370" y="1942624"/>
              <a:ext cx="11055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READY · 即搜即得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762000" y="25241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2A304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55142" y="2711768"/>
            <a:ext cx="15403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多源数据接入能力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762000" y="3048000"/>
            <a:ext cx="10477500" cy="857250"/>
            <a:chOff x="762000" y="3048000"/>
            <a:chExt cx="10477500" cy="857250"/>
          </a:xfrm>
        </p:grpSpPr>
        <p:sp>
          <p:nvSpPr>
            <p:cNvPr id="34" name="Rectangle 34"/>
            <p:cNvSpPr/>
            <p:nvPr/>
          </p:nvSpPr>
          <p:spPr>
            <a:xfrm>
              <a:off x="762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485290" y="32232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73E8"/>
                  </a:solidFill>
                  <a:latin typeface="Arial"/>
                  <a:ea typeface="SimHei"/>
                  <a:cs typeface="Arial"/>
                </a:rPr>
                <a:t>关系型数据库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06601" y="3487102"/>
              <a:ext cx="787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JDBC连接器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6805" y="3685699"/>
              <a:ext cx="14868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ERP员工表 · CRM客户表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29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311670" y="3223260"/>
              <a:ext cx="7111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7C4DFF"/>
                  </a:solidFill>
                  <a:latin typeface="Arial"/>
                  <a:ea typeface="Arial"/>
                  <a:cs typeface="Arial"/>
                </a:rPr>
                <a:t>REST API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73601" y="3487102"/>
              <a:ext cx="787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HTTP连接器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37673" y="3685699"/>
              <a:ext cx="14591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OA审批流程 · 门户公告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096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88912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C853"/>
                  </a:solidFill>
                  <a:latin typeface="Arial"/>
                  <a:ea typeface="SimHei"/>
                  <a:cs typeface="Arial"/>
                </a:rPr>
                <a:t>文件系统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858457" y="3487102"/>
              <a:ext cx="951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S3/NFS连接器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07397" y="3685699"/>
              <a:ext cx="14537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共享盘制度文件自动监听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763000" y="3048000"/>
              <a:ext cx="2476500" cy="857250"/>
            </a:xfrm>
            <a:prstGeom prst="roundRect">
              <a:avLst>
                <a:gd name="adj" fmla="val 4444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655912" y="32232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1744"/>
                  </a:solidFill>
                  <a:latin typeface="Arial"/>
                  <a:ea typeface="SimHei"/>
                  <a:cs typeface="Arial"/>
                </a:rPr>
                <a:t>手动上传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18681" y="3487102"/>
              <a:ext cx="565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Web界面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95808" y="3685699"/>
              <a:ext cx="1210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临时文件 · 制度更新</a:t>
              </a:r>
            </a:p>
          </p:txBody>
        </p:sp>
      </p:grpSp>
      <p:sp>
        <p:nvSpPr>
          <p:cNvPr id="51" name="Rectangle 51"/>
          <p:cNvSpPr/>
          <p:nvPr/>
        </p:nvSpPr>
        <p:spPr>
          <a:xfrm>
            <a:off x="762000" y="4286250"/>
            <a:ext cx="10668000" cy="381000"/>
          </a:xfrm>
          <a:prstGeom prst="roundRect">
            <a:avLst>
              <a:gd name="adj" fmla="val 1000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964838" y="4394835"/>
            <a:ext cx="42623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全量同步初始化 + 增量CDC持续更新，延迟不超过30分钟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62000" y="4953000"/>
            <a:ext cx="5143500" cy="479107"/>
            <a:chOff x="762000" y="4953000"/>
            <a:chExt cx="5143500" cy="479107"/>
          </a:xfrm>
        </p:grpSpPr>
        <p:sp>
          <p:nvSpPr>
            <p:cNvPr id="53" name="Rectangle 53"/>
            <p:cNvSpPr/>
            <p:nvPr/>
          </p:nvSpPr>
          <p:spPr>
            <a:xfrm>
              <a:off x="762000" y="4953000"/>
              <a:ext cx="5143500" cy="457200"/>
            </a:xfrm>
            <a:prstGeom prst="roundRect">
              <a:avLst>
                <a:gd name="adj" fmla="val 8333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009995" y="504110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1744"/>
                  </a:solidFill>
                  <a:latin typeface="Arial"/>
                  <a:ea typeface="SimHei"/>
                  <a:cs typeface="Arial"/>
                </a:rPr>
                <a:t>失败处理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747990" y="5255895"/>
              <a:ext cx="317152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DLQ死信队列 + 3次退避重试 · 归档软删除即刻不可检索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8298028" y="6490335"/>
            <a:ext cx="31380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v2.0》第5.2-5.3节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04800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12408"/>
            <a:ext cx="671083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权限管控：五维度细粒度访问控制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670560"/>
            <a:ext cx="43220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ABAC决策模型 · 从RBAC到全维度ABAC的三级演进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095375"/>
            <a:ext cx="11049000" cy="1905000"/>
          </a:xfrm>
          <a:prstGeom prst="roundRect">
            <a:avLst>
              <a:gd name="adj" fmla="val 2000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235392"/>
            <a:ext cx="166704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ABAC权限决策示例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1571625"/>
            <a:ext cx="5143500" cy="666750"/>
          </a:xfrm>
          <a:prstGeom prst="roundRect">
            <a:avLst>
              <a:gd name="adj" fmla="val 5714"/>
            </a:avLst>
          </a:prstGeom>
          <a:solidFill>
            <a:srgbClr val="FF1744">
              <a:alpha val="6000"/>
            </a:srgbClr>
          </a:solidFill>
          <a:ln w="9525">
            <a:solidFill>
              <a:srgbClr val="FF1744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041654" y="1727835"/>
            <a:ext cx="19477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张三 · HR专员 · 密级: 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1880" y="169545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FF1744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89654" y="1727835"/>
            <a:ext cx="22935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F1744"/>
                </a:solidFill>
                <a:latin typeface="Arial"/>
                <a:ea typeface="SimHei"/>
                <a:cs typeface="Arial"/>
              </a:rPr>
              <a:t>《2024年薪资方案》· 密级: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42035" y="1974056"/>
            <a:ext cx="27753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F1744"/>
                </a:solidFill>
                <a:latin typeface="Arial"/>
                <a:ea typeface="Microsoft YaHei"/>
                <a:cs typeface="Arial"/>
              </a:rPr>
              <a:t>拒绝：密级不足（2 &lt; 3），记录审计日志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96000" y="1571625"/>
            <a:ext cx="5334000" cy="666750"/>
          </a:xfrm>
          <a:prstGeom prst="roundRect">
            <a:avLst>
              <a:gd name="adj" fmla="val 5714"/>
            </a:avLst>
          </a:prstGeom>
          <a:solidFill>
            <a:srgbClr val="00C853">
              <a:alpha val="6000"/>
            </a:srgbClr>
          </a:solidFill>
          <a:ln w="9525">
            <a:solidFill>
              <a:srgbClr val="00C853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375654" y="1727835"/>
            <a:ext cx="19477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李四 · HR总监 · 密级: 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45880" y="1695450"/>
            <a:ext cx="1263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00C853"/>
                </a:solidFill>
                <a:latin typeface="Consolas"/>
                <a:ea typeface="Consolas"/>
                <a:cs typeface="Consolas"/>
              </a:rPr>
              <a:t>→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23654" y="1727835"/>
            <a:ext cx="14624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同一文档 · 密级: 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76035" y="1974056"/>
            <a:ext cx="29477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允许：密级满足（3 ≥ 3）、域匹配（HR）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142" y="3188018"/>
            <a:ext cx="1568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五维度 + 三级演进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571500" y="3571875"/>
            <a:ext cx="11049000" cy="2352675"/>
            <a:chOff x="571500" y="3571875"/>
            <a:chExt cx="11049000" cy="2352675"/>
          </a:xfrm>
        </p:grpSpPr>
        <p:sp>
          <p:nvSpPr>
            <p:cNvPr id="20" name="Rectangle 20"/>
            <p:cNvSpPr/>
            <p:nvPr/>
          </p:nvSpPr>
          <p:spPr>
            <a:xfrm>
              <a:off x="571500" y="3571875"/>
              <a:ext cx="11049000" cy="438150"/>
            </a:xfrm>
            <a:prstGeom prst="roundRect">
              <a:avLst>
                <a:gd name="adj" fmla="val 8696"/>
              </a:avLst>
            </a:prstGeom>
            <a:solidFill>
              <a:srgbClr val="151B28"/>
            </a:solidFill>
            <a:ln w="9525">
              <a:solidFill>
                <a:srgbClr val="2A304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6785" y="371713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维度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280285" y="3717131"/>
              <a:ext cx="31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说明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233285" y="37171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演进路径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4048125"/>
              <a:ext cx="11049000" cy="4000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6404" y="41567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角色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80285" y="4164806"/>
              <a:ext cx="927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CA3AF"/>
                  </a:solidFill>
                  <a:latin typeface="Arial"/>
                  <a:ea typeface="Arial"/>
                  <a:cs typeface="Arial"/>
                </a:rPr>
                <a:t>admin / user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33285" y="4164806"/>
              <a:ext cx="9955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A73E8"/>
                  </a:solidFill>
                  <a:latin typeface="Arial"/>
                  <a:ea typeface="Microsoft YaHei"/>
                  <a:cs typeface="Arial"/>
                </a:rPr>
                <a:t>P1: RBAC基础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4476750"/>
              <a:ext cx="11049000" cy="4000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404" y="45853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部门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80285" y="4593431"/>
              <a:ext cx="1515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HR / 财务 / 研发隔离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33285" y="4593431"/>
              <a:ext cx="1547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7C4DFF"/>
                  </a:solidFill>
                  <a:latin typeface="Arial"/>
                  <a:ea typeface="Microsoft YaHei"/>
                  <a:cs typeface="Arial"/>
                </a:rPr>
                <a:t>P2: +部门+密级+职级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4905375"/>
              <a:ext cx="11049000" cy="5905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6404" y="50139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密级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80285" y="5022056"/>
              <a:ext cx="2745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公开(0) → 内部(1) → 机密(2) → 绝密(3)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33285" y="5022056"/>
              <a:ext cx="1475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0C853"/>
                  </a:solidFill>
                  <a:latin typeface="Arial"/>
                  <a:ea typeface="Microsoft YaHei"/>
                  <a:cs typeface="Arial"/>
                </a:rPr>
                <a:t>P3: ABAC全维度启用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81047" y="5257324"/>
              <a:ext cx="28909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薪资数据=机密 · 战略规划=绝密 · 员工手册=公开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1500" y="5524500"/>
              <a:ext cx="11049000" cy="400050"/>
            </a:xfrm>
            <a:prstGeom prst="rect">
              <a:avLst/>
            </a:prstGeom>
            <a:noFill/>
            <a:ln w="4762">
              <a:solidFill>
                <a:srgbClr val="2A304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6404" y="5633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职级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80285" y="5641181"/>
              <a:ext cx="12078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manager+ 可上传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33285" y="5641181"/>
              <a:ext cx="1451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满足等保2.0 / GDPR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902245" y="6490335"/>
            <a:ext cx="353385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v2.0》第4.4节、第5.4节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270353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典型用户场景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35096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覆盖四类用户角色 · 三个典型场景深度展示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428750"/>
            <a:ext cx="3524250" cy="4381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1A73E8">
              <a:alpha val="1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42170" y="151733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73E8"/>
                </a:solidFill>
                <a:latin typeface="Arial"/>
                <a:ea typeface="SimHei"/>
                <a:cs typeface="Arial"/>
              </a:rPr>
              <a:t>新员工入职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6404" y="20612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小王，研发部新人</a:t>
            </a:r>
          </a:p>
        </p:txBody>
      </p:sp>
      <p:sp>
        <p:nvSpPr>
          <p:cNvPr id="11" name="Rectangle 11"/>
          <p:cNvSpPr/>
          <p:nvPr/>
        </p:nvSpPr>
        <p:spPr>
          <a:xfrm>
            <a:off x="952500" y="2457450"/>
            <a:ext cx="2762250" cy="666750"/>
          </a:xfrm>
          <a:prstGeom prst="roundRect">
            <a:avLst>
              <a:gd name="adj" fmla="val 5714"/>
            </a:avLst>
          </a:prstGeom>
          <a:solidFill>
            <a:srgbClr val="1A73E8">
              <a:alpha val="6000"/>
            </a:srgbClr>
          </a:solidFill>
          <a:ln w="4762">
            <a:solidFill>
              <a:srgbClr val="1A73E8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1137285" y="2564606"/>
            <a:ext cx="176064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输入："新人开发环境搭建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7285" y="2783681"/>
            <a:ext cx="8519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的完整步骤"</a:t>
            </a:r>
          </a:p>
        </p:txBody>
      </p:sp>
      <p:sp>
        <p:nvSpPr>
          <p:cNvPr id="14" name="Line 14"/>
          <p:cNvSpPr/>
          <p:nvPr/>
        </p:nvSpPr>
        <p:spPr>
          <a:xfrm>
            <a:off x="952500" y="3381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952500" y="3524250"/>
            <a:ext cx="2762250" cy="952500"/>
          </a:xfrm>
          <a:prstGeom prst="roundRect">
            <a:avLst>
              <a:gd name="adj" fmla="val 4000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1137285" y="3640931"/>
            <a:ext cx="15410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结果：30分钟搞定环境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7285" y="3879056"/>
            <a:ext cx="15259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上手时间从 2天 → 半天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37666" y="41538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新员工融入效率提升 75%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428750"/>
            <a:ext cx="3524250" cy="4381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7C4DFF">
              <a:alpha val="12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504545" y="151733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跨部门协作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8779" y="2061210"/>
            <a:ext cx="13933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张经理，研发→销售</a:t>
            </a:r>
          </a:p>
        </p:txBody>
      </p:sp>
      <p:sp>
        <p:nvSpPr>
          <p:cNvPr id="23" name="Rectangle 23"/>
          <p:cNvSpPr/>
          <p:nvPr/>
        </p:nvSpPr>
        <p:spPr>
          <a:xfrm>
            <a:off x="4714875" y="2457450"/>
            <a:ext cx="2762250" cy="666750"/>
          </a:xfrm>
          <a:prstGeom prst="roundRect">
            <a:avLst>
              <a:gd name="adj" fmla="val 5714"/>
            </a:avLst>
          </a:prstGeom>
          <a:solidFill>
            <a:srgbClr val="7C4DFF">
              <a:alpha val="6000"/>
            </a:srgbClr>
          </a:solidFill>
          <a:ln w="4762">
            <a:solidFill>
              <a:srgbClr val="7C4DF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4899660" y="2564606"/>
            <a:ext cx="16092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输入："销售部客户签约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99660" y="2783681"/>
            <a:ext cx="8519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的最新流程"</a:t>
            </a:r>
          </a:p>
        </p:txBody>
      </p:sp>
      <p:sp>
        <p:nvSpPr>
          <p:cNvPr id="26" name="Line 26"/>
          <p:cNvSpPr/>
          <p:nvPr/>
        </p:nvSpPr>
        <p:spPr>
          <a:xfrm>
            <a:off x="4714875" y="3381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714875" y="3524250"/>
            <a:ext cx="2762250" cy="952500"/>
          </a:xfrm>
          <a:prstGeom prst="roundRect">
            <a:avLst>
              <a:gd name="adj" fmla="val 4000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4899660" y="3640931"/>
            <a:ext cx="16924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结果：30秒了解流程变化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899660" y="3879056"/>
            <a:ext cx="12230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不需打扰销售同事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00041" y="4153852"/>
            <a:ext cx="17422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跨部门沟通成本降低 99.8%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428750"/>
            <a:ext cx="3524250" cy="4381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428750"/>
            <a:ext cx="3524250" cy="419100"/>
          </a:xfrm>
          <a:prstGeom prst="roundRect">
            <a:avLst>
              <a:gd name="adj" fmla="val 9091"/>
            </a:avLst>
          </a:prstGeom>
          <a:solidFill>
            <a:srgbClr val="00C853">
              <a:alpha val="12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383535" y="15173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合规审计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71154" y="2061210"/>
            <a:ext cx="8400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李总，CFO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477250" y="2457450"/>
            <a:ext cx="2762250" cy="666750"/>
          </a:xfrm>
          <a:prstGeom prst="roundRect">
            <a:avLst>
              <a:gd name="adj" fmla="val 5714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662035" y="2564606"/>
            <a:ext cx="17796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输入："2024Q1差旅报销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62035" y="2783681"/>
            <a:ext cx="7005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调整政策"</a:t>
            </a:r>
          </a:p>
        </p:txBody>
      </p:sp>
      <p:sp>
        <p:nvSpPr>
          <p:cNvPr id="38" name="Line 38"/>
          <p:cNvSpPr/>
          <p:nvPr/>
        </p:nvSpPr>
        <p:spPr>
          <a:xfrm>
            <a:off x="8477250" y="3381375"/>
            <a:ext cx="2762250" cy="9525"/>
          </a:xfrm>
          <a:custGeom>
            <a:avLst/>
            <a:gdLst/>
            <a:ahLst/>
            <a:cxnLst/>
            <a:rect l="l" t="t" r="r" b="b"/>
            <a:pathLst>
              <a:path w="2762250" h="9525">
                <a:moveTo>
                  <a:pt x="0" y="0"/>
                </a:moveTo>
                <a:lnTo>
                  <a:pt x="2762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8477250" y="3524250"/>
            <a:ext cx="2762250" cy="952500"/>
          </a:xfrm>
          <a:prstGeom prst="roundRect">
            <a:avLst>
              <a:gd name="adj" fmla="val 4000"/>
            </a:avLst>
          </a:prstGeom>
          <a:solidFill>
            <a:srgbClr val="00C853">
              <a:alpha val="6000"/>
            </a:srgbClr>
          </a:solidFill>
          <a:ln w="4762">
            <a:solidFill>
              <a:srgbClr val="00C853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662035" y="3640931"/>
            <a:ext cx="16773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结果：秒级定位签发文件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62035" y="3879056"/>
            <a:ext cx="9201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审计有据可查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662416" y="4153852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合规追溯响应时间 → 秒级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27984" y="6140768"/>
            <a:ext cx="57360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覆盖四类用户角色 — 一线员工 ｜ 中层管理 ｜ 高层管理 ｜ IT管理员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831123" y="6490335"/>
            <a:ext cx="2604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v2.0》第6章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38100" cy="5334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307658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分期落地路线图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803910"/>
            <a:ext cx="2858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三阶段8个月 · 从MVP到全员覆盖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81125"/>
            <a:ext cx="3524250" cy="4000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1A73E8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81125"/>
            <a:ext cx="3524250" cy="457200"/>
          </a:xfrm>
          <a:prstGeom prst="roundRect">
            <a:avLst>
              <a:gd name="adj" fmla="val 8333"/>
            </a:avLst>
          </a:prstGeom>
          <a:solidFill>
            <a:srgbClr val="1A73E8">
              <a:alpha val="1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887626" y="1424940"/>
            <a:ext cx="89199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b="1" dirty="0">
                <a:solidFill>
                  <a:srgbClr val="1A73E8"/>
                </a:solidFill>
                <a:latin typeface="Arial"/>
                <a:ea typeface="Arial"/>
                <a:cs typeface="Arial"/>
              </a:rPr>
              <a:t>P1 MVP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70325" y="1724978"/>
            <a:ext cx="5265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第1-3月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756285" y="2135981"/>
            <a:ext cx="1299210" cy="1210628"/>
            <a:chOff x="756285" y="2135981"/>
            <a:chExt cx="1299210" cy="1210628"/>
          </a:xfrm>
        </p:grpSpPr>
        <p:sp>
          <p:nvSpPr>
            <p:cNvPr id="11" name="TextBox 11"/>
            <p:cNvSpPr txBox="1"/>
            <p:nvPr/>
          </p:nvSpPr>
          <p:spPr>
            <a:xfrm>
              <a:off x="756285" y="21359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21359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核心问答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23836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885" y="2383631"/>
              <a:ext cx="1003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基础RBAC权限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285" y="26312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885" y="26312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文档管理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285" y="2878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885" y="2878931"/>
              <a:ext cx="1070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Dashboard统计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285" y="31265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4885" y="31265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用户管理</a:t>
              </a:r>
            </a:p>
          </p:txBody>
        </p:sp>
      </p:grpSp>
      <p:sp>
        <p:nvSpPr>
          <p:cNvPr id="22" name="Line 22"/>
          <p:cNvSpPr/>
          <p:nvPr/>
        </p:nvSpPr>
        <p:spPr>
          <a:xfrm>
            <a:off x="762000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51535" y="3593306"/>
            <a:ext cx="86710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人力：2-3人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1535" y="3831431"/>
            <a:ext cx="10337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日活：30-50人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1535" y="4069556"/>
            <a:ext cx="7005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覆盖：2域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333875" y="1381125"/>
            <a:ext cx="3524250" cy="4000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9525">
            <a:solidFill>
              <a:srgbClr val="7C4DFF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333875" y="1381125"/>
            <a:ext cx="3524250" cy="457200"/>
          </a:xfrm>
          <a:prstGeom prst="roundRect">
            <a:avLst>
              <a:gd name="adj" fmla="val 8333"/>
            </a:avLst>
          </a:prstGeom>
          <a:solidFill>
            <a:srgbClr val="7C4DFF">
              <a:alpha val="15000"/>
            </a:srgbClr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29839" y="1424940"/>
            <a:ext cx="9323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7C4DFF"/>
                </a:solidFill>
                <a:latin typeface="Arial"/>
                <a:ea typeface="SimHei"/>
                <a:cs typeface="Arial"/>
              </a:rPr>
              <a:t>P2 增强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32700" y="1724978"/>
            <a:ext cx="5265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第4-5月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4518660" y="2135981"/>
            <a:ext cx="1440109" cy="1458278"/>
            <a:chOff x="4518660" y="2135981"/>
            <a:chExt cx="1440109" cy="1458278"/>
          </a:xfrm>
        </p:grpSpPr>
        <p:sp>
          <p:nvSpPr>
            <p:cNvPr id="30" name="TextBox 30"/>
            <p:cNvSpPr txBox="1"/>
            <p:nvPr/>
          </p:nvSpPr>
          <p:spPr>
            <a:xfrm>
              <a:off x="4518660" y="21359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7260" y="21359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多源数据接入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8660" y="23836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47260" y="2383631"/>
              <a:ext cx="12115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混合检索+Rerank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18660" y="26312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47260" y="2631281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部门+密级权限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8660" y="2878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47260" y="2878931"/>
              <a:ext cx="915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SSE流式输出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8660" y="31265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47260" y="312658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反馈闭环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8660" y="33742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747260" y="3374231"/>
              <a:ext cx="755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ETL标准化</a:t>
              </a:r>
            </a:p>
          </p:txBody>
        </p:sp>
      </p:grpSp>
      <p:sp>
        <p:nvSpPr>
          <p:cNvPr id="43" name="Line 43"/>
          <p:cNvSpPr/>
          <p:nvPr/>
        </p:nvSpPr>
        <p:spPr>
          <a:xfrm>
            <a:off x="4524375" y="371475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4613910" y="3831431"/>
            <a:ext cx="7838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人力：+2人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13910" y="4069556"/>
            <a:ext cx="160920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日活：100-200人 · 4域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96250" y="1381125"/>
            <a:ext cx="3524250" cy="4000500"/>
          </a:xfrm>
          <a:prstGeom prst="roundRect">
            <a:avLst>
              <a:gd name="adj" fmla="val 1081"/>
            </a:avLst>
          </a:prstGeom>
          <a:solidFill>
            <a:srgbClr val="151B28"/>
          </a:solidFill>
          <a:ln w="14288">
            <a:solidFill>
              <a:srgbClr val="00C853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096250" y="1381125"/>
            <a:ext cx="3524250" cy="457200"/>
          </a:xfrm>
          <a:prstGeom prst="roundRect">
            <a:avLst>
              <a:gd name="adj" fmla="val 8333"/>
            </a:avLst>
          </a:prstGeom>
          <a:solidFill>
            <a:srgbClr val="00C853">
              <a:alpha val="15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392214" y="1424940"/>
            <a:ext cx="93232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0C853"/>
                </a:solidFill>
                <a:latin typeface="Arial"/>
                <a:ea typeface="SimHei"/>
                <a:cs typeface="Arial"/>
              </a:rPr>
              <a:t>P3 全面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95075" y="1724978"/>
            <a:ext cx="5265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Consolas"/>
                <a:ea typeface="Microsoft YaHei"/>
                <a:cs typeface="Consolas"/>
              </a:rPr>
              <a:t>第6-8月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8281035" y="2135981"/>
            <a:ext cx="1300163" cy="1210628"/>
            <a:chOff x="8281035" y="2135981"/>
            <a:chExt cx="1300163" cy="1210628"/>
          </a:xfrm>
        </p:grpSpPr>
        <p:sp>
          <p:nvSpPr>
            <p:cNvPr id="50" name="TextBox 50"/>
            <p:cNvSpPr txBox="1"/>
            <p:nvPr/>
          </p:nvSpPr>
          <p:spPr>
            <a:xfrm>
              <a:off x="8281035" y="21359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09635" y="2135981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全业务域覆盖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81035" y="23836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509635" y="2383631"/>
              <a:ext cx="843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ABAC全维度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81035" y="26312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09635" y="2631281"/>
              <a:ext cx="10715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知识目录全公司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81035" y="2878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509635" y="2878931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模型微调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81035" y="312658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509635" y="3126581"/>
              <a:ext cx="915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8ECF0"/>
                  </a:solidFill>
                  <a:latin typeface="Arial"/>
                  <a:ea typeface="Microsoft YaHei"/>
                  <a:cs typeface="Arial"/>
                </a:rPr>
                <a:t>SLA监控告警</a:t>
              </a:r>
            </a:p>
          </p:txBody>
        </p:sp>
      </p:grpSp>
      <p:sp>
        <p:nvSpPr>
          <p:cNvPr id="61" name="Line 61"/>
          <p:cNvSpPr/>
          <p:nvPr/>
        </p:nvSpPr>
        <p:spPr>
          <a:xfrm>
            <a:off x="8286750" y="3429000"/>
            <a:ext cx="3143250" cy="9525"/>
          </a:xfrm>
          <a:custGeom>
            <a:avLst/>
            <a:gdLst/>
            <a:ahLst/>
            <a:cxnLst/>
            <a:rect l="l" t="t" r="r" b="b"/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8376285" y="3593306"/>
            <a:ext cx="7838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人力：+2人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376285" y="3831431"/>
            <a:ext cx="11018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00C853"/>
                </a:solidFill>
                <a:latin typeface="Arial"/>
                <a:ea typeface="Microsoft YaHei"/>
                <a:cs typeface="Arial"/>
              </a:rPr>
              <a:t>日活：全员200+</a:t>
            </a:r>
          </a:p>
        </p:txBody>
      </p:sp>
      <p:sp>
        <p:nvSpPr>
          <p:cNvPr id="64" name="Rectangle 64"/>
          <p:cNvSpPr/>
          <p:nvPr/>
        </p:nvSpPr>
        <p:spPr>
          <a:xfrm>
            <a:off x="571500" y="57150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65" name="Line 65"/>
          <p:cNvSpPr/>
          <p:nvPr/>
        </p:nvSpPr>
        <p:spPr>
          <a:xfrm>
            <a:off x="2381250" y="5715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1A73E8">
                <a:alpha val="50000"/>
              </a:srgbClr>
            </a:solidFill>
            <a:prstDash val="dash"/>
          </a:ln>
        </p:spPr>
      </p:sp>
      <p:sp>
        <p:nvSpPr>
          <p:cNvPr id="66" name="Line 66"/>
          <p:cNvSpPr/>
          <p:nvPr/>
        </p:nvSpPr>
        <p:spPr>
          <a:xfrm>
            <a:off x="5715000" y="5715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7C4DFF">
                <a:alpha val="50000"/>
              </a:srgbClr>
            </a:solidFill>
            <a:prstDash val="dash"/>
          </a:ln>
        </p:spPr>
      </p:sp>
      <p:sp>
        <p:nvSpPr>
          <p:cNvPr id="67" name="Line 67"/>
          <p:cNvSpPr/>
          <p:nvPr/>
        </p:nvSpPr>
        <p:spPr>
          <a:xfrm>
            <a:off x="9048750" y="57150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/>
          <a:ln w="9525">
            <a:solidFill>
              <a:srgbClr val="00C853">
                <a:alpha val="50000"/>
              </a:srgbClr>
            </a:solidFill>
            <a:prstDash val="dash"/>
          </a:ln>
        </p:spPr>
      </p:sp>
      <p:sp>
        <p:nvSpPr>
          <p:cNvPr id="68" name="TextBox 68"/>
          <p:cNvSpPr txBox="1"/>
          <p:nvPr/>
        </p:nvSpPr>
        <p:spPr>
          <a:xfrm>
            <a:off x="113766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73E8"/>
                </a:solidFill>
                <a:latin typeface="Consolas"/>
                <a:ea typeface="Microsoft YaHei"/>
                <a:cs typeface="Consolas"/>
              </a:rPr>
              <a:t>第1月末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38238" y="6046470"/>
            <a:ext cx="550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内部Demo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332841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7C4DFF"/>
                </a:solidFill>
                <a:latin typeface="Consolas"/>
                <a:ea typeface="Microsoft YaHei"/>
                <a:cs typeface="Consolas"/>
              </a:rPr>
              <a:t>第3月末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328988" y="6046470"/>
            <a:ext cx="406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P1上线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66216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第5月末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662738" y="6046470"/>
            <a:ext cx="40637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P2上线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710166" y="5887402"/>
            <a:ext cx="5375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C853"/>
                </a:solidFill>
                <a:latin typeface="Consolas"/>
                <a:ea typeface="Microsoft YaHei"/>
                <a:cs typeface="Consolas"/>
              </a:rPr>
              <a:t>第8月末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710738" y="60464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全员覆盖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831123" y="6490335"/>
            <a:ext cx="26049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《软件需求规格说明书 v2.0》第9章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3337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1A73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6948" y="231458"/>
            <a:ext cx="359404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动效设计方案汇总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6854" y="708660"/>
            <a:ext cx="33925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spc="1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十种动效类型 · 覆盖全21页 · 每页2-4秒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571500" y="1095375"/>
            <a:ext cx="11049000" cy="3666839"/>
            <a:chOff x="571500" y="1095375"/>
            <a:chExt cx="11049000" cy="3666839"/>
          </a:xfrm>
        </p:grpSpPr>
        <p:sp>
          <p:nvSpPr>
            <p:cNvPr id="7" name="Rectangle 7"/>
            <p:cNvSpPr/>
            <p:nvPr/>
          </p:nvSpPr>
          <p:spPr>
            <a:xfrm>
              <a:off x="571500" y="1095375"/>
              <a:ext cx="11049000" cy="419100"/>
            </a:xfrm>
            <a:prstGeom prst="roundRect">
              <a:avLst>
                <a:gd name="adj" fmla="val 9091"/>
              </a:avLst>
            </a:prstGeom>
            <a:solidFill>
              <a:srgbClr val="1A73E8">
                <a:alpha val="10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191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动效类型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7116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应用页面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6666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效果描述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95666" y="1248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9CA3AF"/>
                  </a:solidFill>
                  <a:latin typeface="Arial"/>
                  <a:ea typeface="SimHei"/>
                  <a:cs typeface="Arial"/>
                </a:rPr>
                <a:t>设计意图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66750" y="1552575"/>
              <a:ext cx="10858500" cy="3209639"/>
              <a:chOff x="666750" y="1552575"/>
              <a:chExt cx="10858500" cy="3209639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666750" y="15525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52297" y="165687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背景粒子流动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471547" y="1656874"/>
                <a:ext cx="72670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1 封面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567047" y="1656874"/>
                <a:ext cx="165715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深色渐变+粒子网络缓慢漂移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996047" y="165687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科技感氛围营造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666750" y="18764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2297" y="198072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时间轴点亮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71547" y="1980724"/>
                <a:ext cx="992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2 政策演进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67047" y="1980724"/>
                <a:ext cx="14668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4阶段依次高亮+年份弹跳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96047" y="1980724"/>
                <a:ext cx="14668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强化"十年跃迁"叙事节奏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66750" y="22002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2297" y="230457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数字翻滚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71547" y="2304574"/>
                <a:ext cx="992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7 成本对比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67047" y="2304574"/>
                <a:ext cx="161777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63.6→0.27 翻滚计数器效果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996047" y="23045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让降本数字更有冲击力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666750" y="25241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52297" y="26284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分层构建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471547" y="2628424"/>
                <a:ext cx="9921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9 技术架构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67047" y="26284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架构层从下往上逐层点亮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996047" y="2628424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展示系统层次感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666750" y="28479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52297" y="29522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数据流粒子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471547" y="2952274"/>
                <a:ext cx="713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12/13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67047" y="29522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节点间粒子沿连线流动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996047" y="2952274"/>
                <a:ext cx="10730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让数据流"看得见"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66750" y="31718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52297" y="32761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卡片翻转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471547" y="3276124"/>
                <a:ext cx="9324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11 六宫格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567047" y="3276124"/>
                <a:ext cx="12095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6张卡片依次3D翻转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96047" y="3276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节奏感，每个翻转是惊喜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66750" y="34956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52297" y="35999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打字机效果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471547" y="3599974"/>
                <a:ext cx="6404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1/15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567047" y="3599974"/>
                <a:ext cx="11321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标题/答案逐字出现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996047" y="3599974"/>
                <a:ext cx="151462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模仿AI输出，增强代入感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666750" y="38195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52297" y="39238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状态脉冲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2471547" y="3923824"/>
                <a:ext cx="71343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13/17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4567047" y="3923824"/>
                <a:ext cx="13946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放行绿脉冲/阻断红闪烁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996047" y="3923824"/>
                <a:ext cx="139464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直观传达质量/权限决策</a:t>
                </a:r>
              </a:p>
            </p:txBody>
          </p:sp>
          <p:sp>
            <p:nvSpPr>
              <p:cNvPr id="52" name="Line 52"/>
              <p:cNvSpPr/>
              <p:nvPr/>
            </p:nvSpPr>
            <p:spPr>
              <a:xfrm>
                <a:off x="666750" y="414337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852297" y="42476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进度条填充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471547" y="4247674"/>
                <a:ext cx="6847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6B7280"/>
                    </a:solidFill>
                    <a:latin typeface="Arial"/>
                    <a:ea typeface="Arial"/>
                    <a:cs typeface="Arial"/>
                  </a:rPr>
                  <a:t>Slide 8 ROI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567047" y="42476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回本时间线从左到右填充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996047" y="4247674"/>
                <a:ext cx="107306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让回收期"可视化"</a:t>
                </a:r>
              </a:p>
            </p:txBody>
          </p:sp>
          <p:sp>
            <p:nvSpPr>
              <p:cNvPr id="57" name="Line 57"/>
              <p:cNvSpPr/>
              <p:nvPr/>
            </p:nvSpPr>
            <p:spPr>
              <a:xfrm>
                <a:off x="666750" y="4467225"/>
                <a:ext cx="10858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858500" h="9525">
                    <a:moveTo>
                      <a:pt x="0" y="0"/>
                    </a:moveTo>
                    <a:lnTo>
                      <a:pt x="10858500" y="0"/>
                    </a:lnTo>
                  </a:path>
                </a:pathLst>
              </a:custGeom>
              <a:noFill/>
              <a:ln w="4762">
                <a:solidFill>
                  <a:srgbClr val="2A3040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52297" y="45715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E8ECF0"/>
                    </a:solidFill>
                    <a:latin typeface="Arial"/>
                    <a:ea typeface="Microsoft YaHei"/>
                    <a:cs typeface="Arial"/>
                  </a:rPr>
                  <a:t>勾选动画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2471547" y="4571524"/>
                <a:ext cx="93245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Slide 19 路线图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567047" y="4571524"/>
                <a:ext cx="155214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9CA3AF"/>
                    </a:solidFill>
                    <a:latin typeface="Arial"/>
                    <a:ea typeface="Microsoft YaHei"/>
                    <a:cs typeface="Arial"/>
                  </a:rPr>
                  <a:t>每阶段功能逐条check入场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996047" y="45715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B7280"/>
                    </a:solidFill>
                    <a:latin typeface="Arial"/>
                    <a:ea typeface="Microsoft YaHei"/>
                    <a:cs typeface="Arial"/>
                  </a:rPr>
                  <a:t>展示完成感和交付信心</a:t>
                </a:r>
              </a:p>
            </p:txBody>
          </p:sp>
        </p:grpSp>
      </p:grpSp>
      <p:sp>
        <p:nvSpPr>
          <p:cNvPr id="64" name="Rectangle 64"/>
          <p:cNvSpPr/>
          <p:nvPr/>
        </p:nvSpPr>
        <p:spPr>
          <a:xfrm>
            <a:off x="571500" y="4857750"/>
            <a:ext cx="11049000" cy="1143000"/>
          </a:xfrm>
          <a:prstGeom prst="roundRect">
            <a:avLst>
              <a:gd name="adj" fmla="val 3333"/>
            </a:avLst>
          </a:prstGeom>
          <a:solidFill>
            <a:srgbClr val="151B28"/>
          </a:solidFill>
          <a:ln w="9525">
            <a:solidFill>
              <a:srgbClr val="2A3040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851154" y="50139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CF0"/>
                </a:solidFill>
                <a:latin typeface="Arial"/>
                <a:ea typeface="SimHei"/>
                <a:cs typeface="Arial"/>
              </a:rPr>
              <a:t>设计建议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851535" y="5307806"/>
            <a:ext cx="4490085" cy="696278"/>
            <a:chOff x="851535" y="5307806"/>
            <a:chExt cx="4490085" cy="696278"/>
          </a:xfrm>
        </p:grpSpPr>
        <p:sp>
          <p:nvSpPr>
            <p:cNvPr id="66" name="TextBox 66"/>
            <p:cNvSpPr txBox="1"/>
            <p:nvPr/>
          </p:nvSpPr>
          <p:spPr>
            <a:xfrm>
              <a:off x="851535" y="530780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9660" y="5307806"/>
              <a:ext cx="36183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整体使用 Morph 平滑过渡，页与页之间元素自然衔接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51535" y="5545931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89660" y="5545931"/>
              <a:ext cx="42519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关键数据页用深色背景突出内容，文字页用浅色面板保证可读性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1535" y="5784056"/>
              <a:ext cx="947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C853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89660" y="5784056"/>
              <a:ext cx="27753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动效总时长每页控制在 2-4 秒，避免拖沓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6001055" y="6490335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C853">
                  <a:alpha val="8000"/>
                </a:srgbClr>
              </a:gs>
              <a:gs pos="60000">
                <a:srgbClr val="1A73E8">
                  <a:alpha val="3000"/>
                </a:srgbClr>
              </a:gs>
              <a:gs pos="100000">
                <a:srgbClr val="0D111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1905000"/>
            <a:ext cx="12192000" cy="2857500"/>
            <a:chOff x="0" y="1905000"/>
            <a:chExt cx="12192000" cy="2857500"/>
          </a:xfrm>
        </p:grpSpPr>
        <p:sp>
          <p:nvSpPr>
            <p:cNvPr id="5" name="Freeform 5"/>
            <p:cNvSpPr/>
            <p:nvPr/>
          </p:nvSpPr>
          <p:spPr>
            <a:xfrm>
              <a:off x="0" y="2381250"/>
              <a:ext cx="2857500" cy="952500"/>
            </a:xfrm>
            <a:custGeom>
              <a:avLst/>
              <a:gdLst/>
              <a:ahLst/>
              <a:cxnLst/>
              <a:rect l="l" t="t" r="r" b="b"/>
              <a:pathLst>
                <a:path w="2857500" h="952500">
                  <a:moveTo>
                    <a:pt x="0" y="0"/>
                  </a:moveTo>
                  <a:lnTo>
                    <a:pt x="1905000" y="0"/>
                  </a:lnTo>
                  <a:lnTo>
                    <a:pt x="2857500" y="95250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0" y="3333750"/>
              <a:ext cx="2381250" cy="952500"/>
            </a:xfrm>
            <a:custGeom>
              <a:avLst/>
              <a:gdLst/>
              <a:ahLst/>
              <a:cxnLst/>
              <a:rect l="l" t="t" r="r" b="b"/>
              <a:pathLst>
                <a:path w="2381250" h="952500">
                  <a:moveTo>
                    <a:pt x="0" y="952500"/>
                  </a:moveTo>
                  <a:lnTo>
                    <a:pt x="1428750" y="952500"/>
                  </a:lnTo>
                  <a:lnTo>
                    <a:pt x="2381250" y="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048750" y="1905000"/>
              <a:ext cx="3143250" cy="1428750"/>
            </a:xfrm>
            <a:custGeom>
              <a:avLst/>
              <a:gdLst/>
              <a:ahLst/>
              <a:cxnLst/>
              <a:rect l="l" t="t" r="r" b="b"/>
              <a:pathLst>
                <a:path w="3143250" h="1428750">
                  <a:moveTo>
                    <a:pt x="3143250" y="0"/>
                  </a:moveTo>
                  <a:lnTo>
                    <a:pt x="952500" y="0"/>
                  </a:lnTo>
                  <a:lnTo>
                    <a:pt x="0" y="142875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9525000" y="3333750"/>
              <a:ext cx="2667000" cy="1428750"/>
            </a:xfrm>
            <a:custGeom>
              <a:avLst/>
              <a:gdLst/>
              <a:ahLst/>
              <a:cxnLst/>
              <a:rect l="l" t="t" r="r" b="b"/>
              <a:pathLst>
                <a:path w="2667000" h="1428750">
                  <a:moveTo>
                    <a:pt x="2667000" y="1428750"/>
                  </a:moveTo>
                  <a:lnTo>
                    <a:pt x="952500" y="1428750"/>
                  </a:lnTo>
                  <a:lnTo>
                    <a:pt x="0" y="0"/>
                  </a:lnTo>
                </a:path>
              </a:pathLst>
            </a:custGeom>
            <a:noFill/>
            <a:ln w="7620">
              <a:solidFill>
                <a:srgbClr val="1A73E8">
                  <a:alpha val="30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357438" y="3309938"/>
            <a:ext cx="7191375" cy="47625"/>
            <a:chOff x="2357438" y="3309938"/>
            <a:chExt cx="7191375" cy="47625"/>
          </a:xfrm>
        </p:grpSpPr>
        <p:sp>
          <p:nvSpPr>
            <p:cNvPr id="10" name="Ellipse 10"/>
            <p:cNvSpPr/>
            <p:nvPr/>
          </p:nvSpPr>
          <p:spPr>
            <a:xfrm>
              <a:off x="283368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5743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02493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501188" y="3309938"/>
              <a:ext cx="47625" cy="47625"/>
            </a:xfrm>
            <a:prstGeom prst="ellipse">
              <a:avLst/>
            </a:prstGeom>
            <a:solidFill>
              <a:srgbClr val="00C853">
                <a:alpha val="50000"/>
              </a:srgbClr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2807505" y="1374458"/>
            <a:ext cx="657699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gradFill>
                  <a:gsLst>
                    <a:gs pos="0">
                      <a:srgbClr val="1A73E8"/>
                    </a:gs>
                    <a:gs pos="50000">
                      <a:srgbClr val="7C4DFF"/>
                    </a:gs>
                    <a:gs pos="100000">
                      <a:srgbClr val="00C853"/>
                    </a:gs>
                  </a:gsLst>
                  <a:lin ang="0" scaled="1"/>
                </a:gradFill>
                <a:latin typeface="Arial"/>
                <a:ea typeface="SimHei"/>
                <a:cs typeface="Arial"/>
              </a:rPr>
              <a:t>乘政策东风，以AI Agent之力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671983" y="1993582"/>
            <a:ext cx="484803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spc="300" dirty="0">
                <a:gradFill>
                  <a:gsLst>
                    <a:gs pos="0">
                      <a:srgbClr val="1A73E8"/>
                    </a:gs>
                    <a:gs pos="50000">
                      <a:srgbClr val="7C4DFF"/>
                    </a:gs>
                    <a:gs pos="100000">
                      <a:srgbClr val="00C853"/>
                    </a:gs>
                  </a:gsLst>
                  <a:lin ang="0" scaled="1"/>
                </a:gradFill>
                <a:latin typeface="Arial"/>
                <a:ea typeface="SimHei"/>
                <a:cs typeface="Arial"/>
              </a:rPr>
              <a:t>让企业知识，触手可及</a:t>
            </a:r>
          </a:p>
        </p:txBody>
      </p:sp>
      <p:sp>
        <p:nvSpPr>
          <p:cNvPr id="17" name="Line 17"/>
          <p:cNvSpPr/>
          <p:nvPr/>
        </p:nvSpPr>
        <p:spPr>
          <a:xfrm>
            <a:off x="4191000" y="261937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1A73E8">
                <a:alpha val="30000"/>
              </a:srgbClr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2310342" y="3166110"/>
            <a:ext cx="7660367" cy="929640"/>
            <a:chOff x="2310342" y="3166110"/>
            <a:chExt cx="7660367" cy="929640"/>
          </a:xfrm>
        </p:grpSpPr>
        <p:sp>
          <p:nvSpPr>
            <p:cNvPr id="18" name="TextBox 18"/>
            <p:cNvSpPr txBox="1"/>
            <p:nvPr/>
          </p:nvSpPr>
          <p:spPr>
            <a:xfrm>
              <a:off x="2310342" y="3166110"/>
              <a:ext cx="12848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00C853"/>
                  </a:solidFill>
                  <a:latin typeface="Consolas"/>
                  <a:ea typeface="Microsoft YaHei"/>
                  <a:cs typeface="Consolas"/>
                </a:rPr>
                <a:t>10秒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00681" y="38071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从提问到答案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01281" y="3166110"/>
              <a:ext cx="17894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A73E8"/>
                  </a:solidFill>
                  <a:latin typeface="Consolas"/>
                  <a:ea typeface="Consolas"/>
                  <a:cs typeface="Consolas"/>
                </a:rPr>
                <a:t>99.6%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80457" y="38071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单次信息获取成本降低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07791" y="3166110"/>
              <a:ext cx="146291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7C4DFF"/>
                  </a:solidFill>
                  <a:latin typeface="Consolas"/>
                  <a:ea typeface="Consolas"/>
                  <a:cs typeface="Consolas"/>
                </a:rPr>
                <a:t>221%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96312" y="38071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三年投资回报率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286250" y="32385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905750" y="32385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9525">
              <a:solidFill>
                <a:srgbClr val="2A3040"/>
              </a:solidFill>
            </a:ln>
          </p:spPr>
        </p:sp>
      </p:grpSp>
      <p:sp>
        <p:nvSpPr>
          <p:cNvPr id="27" name="Line 27"/>
          <p:cNvSpPr/>
          <p:nvPr/>
        </p:nvSpPr>
        <p:spPr>
          <a:xfrm>
            <a:off x="762000" y="4953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4762">
            <a:solidFill>
              <a:srgbClr val="2A304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519928" y="520255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8ECF0"/>
                </a:solidFill>
                <a:latin typeface="Arial"/>
                <a:ea typeface="Microsoft YaHei"/>
                <a:cs typeface="Arial"/>
              </a:rPr>
              <a:t>感谢聆听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48564" y="5759768"/>
            <a:ext cx="149487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联系方式 / 二维码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39868" y="615696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企业知识中枢团队 · 2026.06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2026-06-29T07:59:56Z</dcterms:created>
  <dcterms:modified xsi:type="dcterms:W3CDTF">2026-06-29T07:59:56Z</dcterms:modified>
  <cp:category/>
  <cp:contentStatus/>
</cp:coreProperties>
</file>